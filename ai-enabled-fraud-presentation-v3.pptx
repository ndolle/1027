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006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097280"/>
            <a:ext cx="10728655" cy="4663440"/>
          </a:xfrm>
          <a:prstGeom prst="roundRect">
            <a:avLst/>
          </a:prstGeom>
          <a:solidFill>
            <a:srgbClr val="F4F8F6"/>
          </a:solidFill>
          <a:ln w="12700">
            <a:solidFill>
              <a:srgbClr val="D0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rIns="548640" tIns="548640"/>
          <a:lstStyle/>
          <a:p>
            <a:pPr algn="ctr">
              <a:defRPr sz="1200" b="1">
                <a:solidFill>
                  <a:srgbClr val="006642"/>
                </a:solidFill>
                <a:latin typeface="Arial"/>
              </a:defRPr>
            </a:pPr>
            <a:r>
              <a:t>EXECUTIVE BRIEFING | ARTIFICIAL INTELLIGENCE &amp; FINANCIAL SECURITY</a:t>
            </a:r>
          </a:p>
          <a:p>
            <a:pPr>
              <a:spcBef>
                <a:spcPts val="1400"/>
              </a:spcBef>
              <a:spcAft>
                <a:spcPts val="2000"/>
              </a:spcAft>
              <a:defRPr sz="3200" b="1">
                <a:solidFill>
                  <a:srgbClr val="0F172A"/>
                </a:solidFill>
                <a:latin typeface="Georgia"/>
              </a:defRPr>
            </a:pPr>
            <a:r>
              <a:t>Weaponizing Deception: The Industrialization of AI-Enabled Fraud</a:t>
            </a:r>
          </a:p>
          <a:p>
            <a:pPr>
              <a:defRPr sz="1600">
                <a:solidFill>
                  <a:srgbClr val="334155"/>
                </a:solidFill>
                <a:latin typeface="Arial"/>
              </a:defRPr>
            </a:pPr>
            <a:r>
              <a:t>A Comprehensive Taxonomy of AI-Driven Threat Vectors, Autonomous Cyber Operations, and Defense Strategies for Financial Institutions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10728655" cy="50800"/>
          </a:xfrm>
          <a:prstGeom prst="rect">
            <a:avLst/>
          </a:prstGeom>
          <a:solidFill>
            <a:srgbClr val="006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280160" y="4114800"/>
            <a:ext cx="310896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defRPr sz="1400" b="1">
                <a:solidFill>
                  <a:srgbClr val="006642"/>
                </a:solidFill>
                <a:latin typeface="Arial"/>
              </a:defRPr>
            </a:pPr>
            <a:r>
              <a:t>4 Attack Families</a:t>
            </a:r>
          </a:p>
          <a:p>
            <a:pPr>
              <a:defRPr sz="1100">
                <a:solidFill>
                  <a:srgbClr val="334155"/>
                </a:solidFill>
                <a:latin typeface="Arial"/>
              </a:defRPr>
            </a:pPr>
            <a:r>
              <a:t>Taxonomy covering identity, phishing, cyber ops, &amp; insider threats</a:t>
            </a:r>
          </a:p>
        </p:txBody>
      </p:sp>
      <p:sp>
        <p:nvSpPr>
          <p:cNvPr id="6" name="Rectangle 5"/>
          <p:cNvSpPr/>
          <p:nvPr/>
        </p:nvSpPr>
        <p:spPr>
          <a:xfrm>
            <a:off x="1280160" y="4114800"/>
            <a:ext cx="3108960" cy="50800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663440" y="4114800"/>
            <a:ext cx="310896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defRPr sz="1400" b="1">
                <a:solidFill>
                  <a:srgbClr val="006642"/>
                </a:solidFill>
                <a:latin typeface="Arial"/>
              </a:defRPr>
            </a:pPr>
            <a:r>
              <a:t>Anthropic Case Data</a:t>
            </a:r>
          </a:p>
          <a:p>
            <a:pPr>
              <a:defRPr sz="1100">
                <a:solidFill>
                  <a:srgbClr val="334155"/>
                </a:solidFill>
                <a:latin typeface="Arial"/>
              </a:defRPr>
            </a:pPr>
            <a:r>
              <a:t>Real-world telemetry on GTG threat actors &amp; autonomous malware</a:t>
            </a:r>
          </a:p>
        </p:txBody>
      </p:sp>
      <p:sp>
        <p:nvSpPr>
          <p:cNvPr id="8" name="Rectangle 7"/>
          <p:cNvSpPr/>
          <p:nvPr/>
        </p:nvSpPr>
        <p:spPr>
          <a:xfrm>
            <a:off x="4663440" y="4114800"/>
            <a:ext cx="3108960" cy="50800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046720" y="4114800"/>
            <a:ext cx="310896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defRPr sz="1400" b="1">
                <a:solidFill>
                  <a:srgbClr val="006642"/>
                </a:solidFill>
                <a:latin typeface="Arial"/>
              </a:defRPr>
            </a:pPr>
            <a:r>
              <a:t>Strategic Defense</a:t>
            </a:r>
          </a:p>
          <a:p>
            <a:pPr>
              <a:defRPr sz="1100">
                <a:solidFill>
                  <a:srgbClr val="334155"/>
                </a:solidFill>
                <a:latin typeface="Arial"/>
              </a:defRPr>
            </a:pPr>
            <a:r>
              <a:t>Transitioning from visual inspection to hardware attestation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6720" y="4114800"/>
            <a:ext cx="3108960" cy="50800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6642"/>
                </a:solidFill>
                <a:latin typeface="Arial"/>
              </a:defRPr>
            </a:pPr>
            <a:r>
              <a:t>EXECUTIVE AGENDA &amp; THREAT TAXONOMY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Georgia"/>
              </a:defRPr>
            </a:pPr>
            <a:r>
              <a:t>The Master Taxonomy of AI-Enabled Financial Fraud &amp; Cyber Operations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08760"/>
            <a:ext cx="10728655" cy="25400"/>
          </a:xfrm>
          <a:prstGeom prst="rect">
            <a:avLst/>
          </a:prstGeom>
          <a:solidFill>
            <a:srgbClr val="006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257800" cy="2194560"/>
          </a:xfrm>
          <a:prstGeom prst="roundRect">
            <a:avLst/>
          </a:prstGeom>
          <a:solidFill>
            <a:srgbClr val="F4F8F6"/>
          </a:solidFill>
          <a:ln w="12700">
            <a:solidFill>
              <a:srgbClr val="D0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defRPr sz="1600" b="1">
                <a:solidFill>
                  <a:srgbClr val="006642"/>
                </a:solidFill>
                <a:latin typeface="Georgia"/>
              </a:defRPr>
            </a:pPr>
            <a:r>
              <a:t>FAMILY A: Synthetic Media &amp; Identity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  <a:latin typeface="Arial"/>
              </a:defRPr>
            </a:pPr>
            <a:r>
              <a:t>• Real-Time Video &amp; Voice Deepfakes</a:t>
            </a:r>
            <a:br/>
            <a:r>
              <a:t>• Camera Injection (IAD) vs Liveness (PAD)</a:t>
            </a:r>
            <a:br/>
            <a:r>
              <a:t>• Synthetic Identity Fraud ($40B Loss)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737360"/>
            <a:ext cx="5257800" cy="50800"/>
          </a:xfrm>
          <a:prstGeom prst="rect">
            <a:avLst/>
          </a:prstGeom>
          <a:solidFill>
            <a:srgbClr val="006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199632" y="1737360"/>
            <a:ext cx="5257800" cy="2194560"/>
          </a:xfrm>
          <a:prstGeom prst="roundRect">
            <a:avLst/>
          </a:prstGeom>
          <a:solidFill>
            <a:srgbClr val="F4F8F6"/>
          </a:solidFill>
          <a:ln w="12700">
            <a:solidFill>
              <a:srgbClr val="D0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defRPr sz="1600" b="1">
                <a:solidFill>
                  <a:srgbClr val="006642"/>
                </a:solidFill>
                <a:latin typeface="Georgia"/>
              </a:defRPr>
            </a:pPr>
            <a:r>
              <a:t>FAMILY B: Automated Social Engineering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  <a:latin typeface="Arial"/>
              </a:defRPr>
            </a:pPr>
            <a:r>
              <a:t>• Dark LLMs (WormGPT) Spear-Phishing</a:t>
            </a:r>
            <a:br/>
            <a:r>
              <a:t>• Adversary-in-the-Middle (AiTM) MFA Theft</a:t>
            </a:r>
            <a:br/>
            <a:r>
              <a:t>• Automated Relationship Scams (Pig Butchering)</a:t>
            </a:r>
          </a:p>
        </p:txBody>
      </p:sp>
      <p:sp>
        <p:nvSpPr>
          <p:cNvPr id="8" name="Rectangle 7"/>
          <p:cNvSpPr/>
          <p:nvPr/>
        </p:nvSpPr>
        <p:spPr>
          <a:xfrm>
            <a:off x="6199632" y="1737360"/>
            <a:ext cx="5257800" cy="50800"/>
          </a:xfrm>
          <a:prstGeom prst="rect">
            <a:avLst/>
          </a:prstGeom>
          <a:solidFill>
            <a:srgbClr val="006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4114800"/>
            <a:ext cx="5257800" cy="2194560"/>
          </a:xfrm>
          <a:prstGeom prst="roundRect">
            <a:avLst/>
          </a:prstGeom>
          <a:solidFill>
            <a:srgbClr val="F4F8F6"/>
          </a:solidFill>
          <a:ln w="12700">
            <a:solidFill>
              <a:srgbClr val="D0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defRPr sz="1600" b="1">
                <a:solidFill>
                  <a:srgbClr val="006642"/>
                </a:solidFill>
                <a:latin typeface="Georgia"/>
              </a:defRPr>
            </a:pPr>
            <a:r>
              <a:t>FAMILY C: Autonomous AI Cyber Ops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  <a:latin typeface="Arial"/>
              </a:defRPr>
            </a:pPr>
            <a:r>
              <a:t>• Self-Healing Malware &amp; EDR Evasion</a:t>
            </a:r>
            <a:br/>
            <a:r>
              <a:t>• Autonomous Zero-Day Exploit Foundries</a:t>
            </a:r>
            <a:br/>
            <a:r>
              <a:t>• Mass Cloud Credential &amp; Supply Chain Theft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4114800"/>
            <a:ext cx="5257800" cy="50800"/>
          </a:xfrm>
          <a:prstGeom prst="rect">
            <a:avLst/>
          </a:prstGeom>
          <a:solidFill>
            <a:srgbClr val="006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199632" y="4114800"/>
            <a:ext cx="5257800" cy="2194560"/>
          </a:xfrm>
          <a:prstGeom prst="roundRect">
            <a:avLst/>
          </a:prstGeom>
          <a:solidFill>
            <a:srgbClr val="F4F8F6"/>
          </a:solidFill>
          <a:ln w="12700">
            <a:solidFill>
              <a:srgbClr val="D0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defRPr sz="1600" b="1">
                <a:solidFill>
                  <a:srgbClr val="006642"/>
                </a:solidFill>
                <a:latin typeface="Georgia"/>
              </a:defRPr>
            </a:pPr>
            <a:r>
              <a:t>FAMILY D: Insiders &amp; Warfare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  <a:latin typeface="Arial"/>
              </a:defRPr>
            </a:pPr>
            <a:r>
              <a:t>• Deepfake Candidate HR Hiring Fraud</a:t>
            </a:r>
            <a:br/>
            <a:r>
              <a:t>• Remote IT Worker Infiltration (DPRK)</a:t>
            </a:r>
            <a:br/>
            <a:r>
              <a:t>• Automated Breach Engines &amp; Information Ops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99632" y="4114800"/>
            <a:ext cx="5257800" cy="50800"/>
          </a:xfrm>
          <a:prstGeom prst="rect">
            <a:avLst/>
          </a:prstGeom>
          <a:solidFill>
            <a:srgbClr val="006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31520" y="5852160"/>
            <a:ext cx="10728655" cy="640080"/>
          </a:xfrm>
          <a:prstGeom prst="roundRect">
            <a:avLst/>
          </a:prstGeom>
          <a:solidFill>
            <a:srgbClr val="E6F2ED"/>
          </a:solidFill>
          <a:ln w="12700">
            <a:solidFill>
              <a:srgbClr val="D0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09728"/>
          <a:lstStyle/>
          <a:p>
            <a:pPr algn="ctr">
              <a:defRPr sz="1200" b="1">
                <a:solidFill>
                  <a:srgbClr val="006642"/>
                </a:solidFill>
                <a:latin typeface="Arial"/>
              </a:defRPr>
            </a:pPr>
            <a:r>
              <a:t>Key Takeaway: AI has transformed financial crime from manual individual exploitation into automated, scalable, machine-speed operations across these 4 distinct attack families.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6642"/>
                </a:solidFill>
                <a:latin typeface="Arial"/>
              </a:defRPr>
            </a:pPr>
            <a:r>
              <a:t>MACRO ENVIRONMENT | FINANCIAL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Georgia"/>
              </a:defRPr>
            </a:pPr>
            <a:r>
              <a:t>AI-Driven Fraud Caused $6.3B in FBI-Reported Losses as Total Online Crime Surged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08760"/>
            <a:ext cx="10728655" cy="25400"/>
          </a:xfrm>
          <a:prstGeom prst="rect">
            <a:avLst/>
          </a:prstGeom>
          <a:solidFill>
            <a:srgbClr val="006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2560320" cy="2011680"/>
          </a:xfrm>
          <a:prstGeom prst="roundRect">
            <a:avLst/>
          </a:prstGeom>
          <a:solidFill>
            <a:srgbClr val="F4F8F6"/>
          </a:solidFill>
          <a:ln w="12700">
            <a:solidFill>
              <a:srgbClr val="D0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2800" b="1">
                <a:solidFill>
                  <a:srgbClr val="006642"/>
                </a:solidFill>
                <a:latin typeface="Georgia"/>
              </a:defRPr>
            </a:pPr>
            <a:r>
              <a:t>$6.3B</a:t>
            </a:r>
          </a:p>
          <a:p>
            <a:pPr algn="ctr">
              <a:spcBef>
                <a:spcPts val="400"/>
              </a:spcBef>
              <a:defRPr sz="1300" b="1">
                <a:solidFill>
                  <a:srgbClr val="0F172A"/>
                </a:solidFill>
                <a:latin typeface="Arial"/>
              </a:defRPr>
            </a:pPr>
            <a:r>
              <a:t>Direct AI-Enabled Fraud</a:t>
            </a:r>
          </a:p>
          <a:p>
            <a:pPr algn="ctr">
              <a:spcBef>
                <a:spcPts val="400"/>
              </a:spcBef>
              <a:defRPr sz="1000">
                <a:solidFill>
                  <a:srgbClr val="334155"/>
                </a:solidFill>
                <a:latin typeface="Arial"/>
              </a:defRPr>
            </a:pPr>
            <a:r>
              <a:t>Isolated FBI IC3 reported losses from deepfakes &amp; AI phishing in 2025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737360"/>
            <a:ext cx="2560320" cy="50800"/>
          </a:xfrm>
          <a:prstGeom prst="rect">
            <a:avLst/>
          </a:prstGeom>
          <a:solidFill>
            <a:srgbClr val="006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456432" y="1737360"/>
            <a:ext cx="2560320" cy="2011680"/>
          </a:xfrm>
          <a:prstGeom prst="roundRect">
            <a:avLst/>
          </a:prstGeom>
          <a:solidFill>
            <a:srgbClr val="F4F8F6"/>
          </a:solidFill>
          <a:ln w="12700">
            <a:solidFill>
              <a:srgbClr val="D0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2800" b="1">
                <a:solidFill>
                  <a:srgbClr val="006642"/>
                </a:solidFill>
                <a:latin typeface="Georgia"/>
              </a:defRPr>
            </a:pPr>
            <a:r>
              <a:t>$148.2B</a:t>
            </a:r>
          </a:p>
          <a:p>
            <a:pPr algn="ctr">
              <a:spcBef>
                <a:spcPts val="400"/>
              </a:spcBef>
              <a:defRPr sz="1300" b="1">
                <a:solidFill>
                  <a:srgbClr val="0F172A"/>
                </a:solidFill>
                <a:latin typeface="Arial"/>
              </a:defRPr>
            </a:pPr>
            <a:r>
              <a:t>Total Global Cybercrime</a:t>
            </a:r>
          </a:p>
          <a:p>
            <a:pPr algn="ctr">
              <a:spcBef>
                <a:spcPts val="400"/>
              </a:spcBef>
              <a:defRPr sz="1000">
                <a:solidFill>
                  <a:srgbClr val="334155"/>
                </a:solidFill>
                <a:latin typeface="Arial"/>
              </a:defRPr>
            </a:pPr>
            <a:r>
              <a:t>Overall economic toll of online fraud and automated cyber exploitation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3456432" y="1737360"/>
            <a:ext cx="2560320" cy="50800"/>
          </a:xfrm>
          <a:prstGeom prst="rect">
            <a:avLst/>
          </a:prstGeom>
          <a:solidFill>
            <a:srgbClr val="006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81344" y="1737360"/>
            <a:ext cx="2560320" cy="2011680"/>
          </a:xfrm>
          <a:prstGeom prst="roundRect">
            <a:avLst/>
          </a:prstGeom>
          <a:solidFill>
            <a:srgbClr val="F4F8F6"/>
          </a:solidFill>
          <a:ln w="12700">
            <a:solidFill>
              <a:srgbClr val="D0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2800" b="1">
                <a:solidFill>
                  <a:srgbClr val="006642"/>
                </a:solidFill>
                <a:latin typeface="Georgia"/>
              </a:defRPr>
            </a:pPr>
            <a:r>
              <a:t>+2,137%</a:t>
            </a:r>
          </a:p>
          <a:p>
            <a:pPr algn="ctr">
              <a:spcBef>
                <a:spcPts val="400"/>
              </a:spcBef>
              <a:defRPr sz="1300" b="1">
                <a:solidFill>
                  <a:srgbClr val="0F172A"/>
                </a:solidFill>
                <a:latin typeface="Arial"/>
              </a:defRPr>
            </a:pPr>
            <a:r>
              <a:t>Deepfake Surge</a:t>
            </a:r>
          </a:p>
          <a:p>
            <a:pPr algn="ctr">
              <a:spcBef>
                <a:spcPts val="400"/>
              </a:spcBef>
              <a:defRPr sz="1000">
                <a:solidFill>
                  <a:srgbClr val="334155"/>
                </a:solidFill>
                <a:latin typeface="Arial"/>
              </a:defRPr>
            </a:pPr>
            <a:r>
              <a:t>Year-over-year increase in synthetic voice &amp; video impersonation attacks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81344" y="1737360"/>
            <a:ext cx="2560320" cy="50800"/>
          </a:xfrm>
          <a:prstGeom prst="rect">
            <a:avLst/>
          </a:prstGeom>
          <a:solidFill>
            <a:srgbClr val="006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906256" y="1737360"/>
            <a:ext cx="2560320" cy="2011680"/>
          </a:xfrm>
          <a:prstGeom prst="roundRect">
            <a:avLst/>
          </a:prstGeom>
          <a:solidFill>
            <a:srgbClr val="F4F8F6"/>
          </a:solidFill>
          <a:ln w="12700">
            <a:solidFill>
              <a:srgbClr val="D0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2800" b="1">
                <a:solidFill>
                  <a:srgbClr val="006642"/>
                </a:solidFill>
                <a:latin typeface="Georgia"/>
              </a:defRPr>
            </a:pPr>
            <a:r>
              <a:t>&lt; $15</a:t>
            </a:r>
          </a:p>
          <a:p>
            <a:pPr algn="ctr">
              <a:spcBef>
                <a:spcPts val="400"/>
              </a:spcBef>
              <a:defRPr sz="1300" b="1">
                <a:solidFill>
                  <a:srgbClr val="0F172A"/>
                </a:solidFill>
                <a:latin typeface="Arial"/>
              </a:defRPr>
            </a:pPr>
            <a:r>
              <a:t>Dark Web Synthetic ID Cost</a:t>
            </a:r>
          </a:p>
          <a:p>
            <a:pPr algn="ctr">
              <a:spcBef>
                <a:spcPts val="400"/>
              </a:spcBef>
              <a:defRPr sz="1000">
                <a:solidFill>
                  <a:srgbClr val="334155"/>
                </a:solidFill>
                <a:latin typeface="Arial"/>
              </a:defRPr>
            </a:pPr>
            <a:r>
              <a:t>Cost collapse for complete synthetic identity packages with forged KYC documents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906256" y="1737360"/>
            <a:ext cx="2560320" cy="50800"/>
          </a:xfrm>
          <a:prstGeom prst="rect">
            <a:avLst/>
          </a:prstGeom>
          <a:solidFill>
            <a:srgbClr val="006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31520" y="3931920"/>
            <a:ext cx="525780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/>
          <a:lstStyle/>
          <a:p>
            <a:pPr algn="ctr">
              <a:defRPr sz="1600" b="1">
                <a:solidFill>
                  <a:srgbClr val="006642"/>
                </a:solidFill>
                <a:latin typeface="Georgia"/>
              </a:defRPr>
            </a:pPr>
            <a:r>
              <a:t>Collapse of the Crime Labor Cost</a:t>
            </a:r>
          </a:p>
          <a:p>
            <a:pPr>
              <a:spcBef>
                <a:spcPts val="600"/>
              </a:spcBef>
              <a:defRPr sz="1200">
                <a:solidFill>
                  <a:srgbClr val="334155"/>
                </a:solidFill>
                <a:latin typeface="Arial"/>
              </a:defRPr>
            </a:pPr>
            <a:r>
              <a:t>• Zero-Barrier Execution: Uncensored Large Language Models (LLMs) allow low-skilled criminals to write flaw-free phishing emails in 30+ languages.</a:t>
            </a:r>
            <a:br/>
            <a:r>
              <a:t>• Machine-Speed Automation: Attacks that previously required weeks of manual reconnaissance now run automatically in minutes.</a:t>
            </a:r>
            <a:br/>
            <a:r>
              <a:t>• Scaled Weaponization: Phishing click-through rates jump from 12% (traditional) to 54% when AI personalizes the message.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3931920"/>
            <a:ext cx="5257800" cy="50800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199632" y="3931920"/>
            <a:ext cx="525780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/>
          <a:lstStyle/>
          <a:p>
            <a:pPr algn="ctr">
              <a:defRPr sz="1600" b="1">
                <a:solidFill>
                  <a:srgbClr val="006642"/>
                </a:solidFill>
                <a:latin typeface="Georgia"/>
              </a:defRPr>
            </a:pPr>
            <a:r>
              <a:t>Shift in Banking Risk Profile</a:t>
            </a:r>
          </a:p>
          <a:p>
            <a:pPr>
              <a:spcBef>
                <a:spcPts val="600"/>
              </a:spcBef>
              <a:defRPr sz="1200">
                <a:solidFill>
                  <a:srgbClr val="334155"/>
                </a:solidFill>
                <a:latin typeface="Arial"/>
              </a:defRPr>
            </a:pPr>
            <a:r>
              <a:t>• Failure of Human Verification: Visual and auditory human checks are completely ineffective against real-time voice &amp; video generative AI.</a:t>
            </a:r>
            <a:br/>
            <a:r>
              <a:t>• Multi-Factor Authentication (MFA) Bypass: Adversary-in-the-Middle (AiTM) proxies steal live session tokens, neutralizing standard SMS/OTP checks.</a:t>
            </a:r>
            <a:br/>
            <a:r>
              <a:t>• Regulatory Pressure: Financial regulators now mandate 50/50 liability sharing between sending and receiving banks for authorized scam losses.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99632" y="3931920"/>
            <a:ext cx="5257800" cy="50800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E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7280" y="2011680"/>
            <a:ext cx="1828800" cy="50800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2860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A86B"/>
                </a:solidFill>
                <a:latin typeface="Arial"/>
              </a:defRPr>
            </a:pPr>
            <a:r>
              <a:t>ATTACK FAMILY A</a:t>
            </a:r>
          </a:p>
          <a:p>
            <a:pPr>
              <a:spcBef>
                <a:spcPts val="1000"/>
              </a:spcBef>
              <a:defRPr sz="3600" b="1">
                <a:solidFill>
                  <a:srgbClr val="FFFFFF"/>
                </a:solidFill>
                <a:latin typeface="Georgia"/>
              </a:defRPr>
            </a:pPr>
            <a:r>
              <a:t>Synthetic Media &amp; Identity Spoofing</a:t>
            </a:r>
          </a:p>
          <a:p>
            <a:pPr>
              <a:spcBef>
                <a:spcPts val="1600"/>
              </a:spcBef>
              <a:defRPr sz="1800">
                <a:solidFill>
                  <a:srgbClr val="94A3B8"/>
                </a:solidFill>
                <a:latin typeface="Arial"/>
              </a:defRPr>
            </a:pPr>
            <a:r>
              <a:t>Focus: Deepfake Video Impersonation, Voice Cloning, Virtual Camera Injection (IAD) vs Liveness Checks (PAD), and Synthetic Identity Fabrication.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6642"/>
                </a:solidFill>
                <a:latin typeface="Arial"/>
              </a:defRPr>
            </a:pPr>
            <a:r>
              <a:t>ATTACK FAMILY A | SYNTHETIC MEDIA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Georgia"/>
              </a:defRPr>
            </a:pPr>
            <a:r>
              <a:t>Real-Time Video Face-Swapping and Voice Cloning Neutralize Sensory Verification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08760"/>
            <a:ext cx="10728655" cy="25400"/>
          </a:xfrm>
          <a:prstGeom prst="rect">
            <a:avLst/>
          </a:prstGeom>
          <a:solidFill>
            <a:srgbClr val="006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257800" cy="4572000"/>
          </a:xfrm>
          <a:prstGeom prst="roundRect">
            <a:avLst/>
          </a:prstGeom>
          <a:solidFill>
            <a:srgbClr val="F4F8F6"/>
          </a:solidFill>
          <a:ln w="12700">
            <a:solidFill>
              <a:srgbClr val="D0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defRPr sz="1800" b="1">
                <a:solidFill>
                  <a:srgbClr val="006642"/>
                </a:solidFill>
                <a:latin typeface="Georgia"/>
              </a:defRPr>
            </a:pPr>
            <a:r>
              <a:t>Voice Cloning Mechanics</a:t>
            </a:r>
          </a:p>
          <a:p>
            <a:pPr>
              <a:spcBef>
                <a:spcPts val="1000"/>
              </a:spcBef>
              <a:defRPr sz="1300">
                <a:solidFill>
                  <a:srgbClr val="334155"/>
                </a:solidFill>
                <a:latin typeface="Arial"/>
              </a:defRPr>
            </a:pPr>
            <a:r>
              <a:t>• 3-Second Audio Requirement: Generative voice models clone an executive's voice using only 3 seconds of public audio (e.g., earnings calls, YouTube).</a:t>
            </a:r>
            <a:br/>
            <a:r>
              <a:t>• 85% Match Accuracy: Clones match emotional cadence, accents, and breathing patterns, bypassing human acoustic checks.</a:t>
            </a:r>
            <a:br/>
            <a:r>
              <a:t>• Call Center Losses: Contact centers suffer $12.5B in annual losses due to voice-cloned account takeover (ATO) attacks.</a:t>
            </a:r>
            <a:br/>
            <a:r>
              <a:t>• Out-of-Band Verification Failure: Phone callbacks are rendered useless when the caller's voice sounds identical to the authentic executive.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737360"/>
            <a:ext cx="5257800" cy="50800"/>
          </a:xfrm>
          <a:prstGeom prst="rect">
            <a:avLst/>
          </a:prstGeom>
          <a:solidFill>
            <a:srgbClr val="006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199632" y="1737360"/>
            <a:ext cx="525780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defRPr sz="1800" b="1">
                <a:solidFill>
                  <a:srgbClr val="006642"/>
                </a:solidFill>
                <a:latin typeface="Georgia"/>
              </a:defRPr>
            </a:pPr>
            <a:r>
              <a:t>Empirical Case Study: $25.6M Deepfake Theft</a:t>
            </a:r>
          </a:p>
          <a:p>
            <a:pPr>
              <a:spcBef>
                <a:spcPts val="800"/>
              </a:spcBef>
              <a:defRPr sz="1300" b="1">
                <a:solidFill>
                  <a:srgbClr val="0F172A"/>
                </a:solidFill>
                <a:latin typeface="Arial"/>
              </a:defRPr>
            </a:pPr>
            <a:r>
              <a:t>Incident: Arup Engineering (Hong Kong Branch)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  <a:latin typeface="Arial"/>
              </a:defRPr>
            </a:pPr>
            <a:r>
              <a:t>• The Attack Vector: A finance employee received a spoofed email from the Chief Financial Officer (CFO) requesting a confidential transaction.</a:t>
            </a:r>
            <a:br/>
            <a:r>
              <a:t>• Multi-Participant Video Conference: Suspicious of the request, the employee attended a video call where all other participants—including the CFO and colleagues—were real-time deepfakes created from public media.</a:t>
            </a:r>
            <a:br/>
            <a:r>
              <a:t>• Total Loss: $25.6M transferred across 15 wire transactions before the fraud was detected.</a:t>
            </a:r>
            <a:br/>
            <a:r>
              <a:t>• Takeaway: Visual and auditory human trust is completely broken.</a:t>
            </a:r>
          </a:p>
        </p:txBody>
      </p:sp>
      <p:sp>
        <p:nvSpPr>
          <p:cNvPr id="8" name="Rectangle 7"/>
          <p:cNvSpPr/>
          <p:nvPr/>
        </p:nvSpPr>
        <p:spPr>
          <a:xfrm>
            <a:off x="6199632" y="1737360"/>
            <a:ext cx="5257800" cy="50800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6642"/>
                </a:solidFill>
                <a:latin typeface="Arial"/>
              </a:defRPr>
            </a:pPr>
            <a:r>
              <a:t>ATTACK FAMILY A | BIOMETRIC IDENTITY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Georgia"/>
              </a:defRPr>
            </a:pPr>
            <a:r>
              <a:t>Digital Injection Attacks Bypass Camera Sensors to Defeat Legacy Liveness Checks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08760"/>
            <a:ext cx="10728655" cy="25400"/>
          </a:xfrm>
          <a:prstGeom prst="rect">
            <a:avLst/>
          </a:prstGeom>
          <a:solidFill>
            <a:srgbClr val="006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2560320" cy="4572000"/>
          </a:xfrm>
          <a:prstGeom prst="roundRect">
            <a:avLst/>
          </a:prstGeom>
          <a:solidFill>
            <a:srgbClr val="F4F8F6"/>
          </a:solidFill>
          <a:ln w="12700">
            <a:solidFill>
              <a:srgbClr val="D0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400" b="1">
                <a:solidFill>
                  <a:srgbClr val="006642"/>
                </a:solidFill>
                <a:latin typeface="Georgia"/>
              </a:defRPr>
            </a:pPr>
            <a:r>
              <a:t>Presentation Attack (PAD)</a:t>
            </a:r>
          </a:p>
          <a:p>
            <a:pPr>
              <a:spcBef>
                <a:spcPts val="400"/>
              </a:spcBef>
              <a:defRPr sz="1100" b="1">
                <a:solidFill>
                  <a:srgbClr val="0F172A"/>
                </a:solidFill>
                <a:latin typeface="Arial"/>
              </a:defRPr>
            </a:pPr>
            <a:r>
              <a:t>Physical Mask / Paper Photo</a:t>
            </a:r>
          </a:p>
          <a:p>
            <a:pPr>
              <a:spcBef>
                <a:spcPts val="800"/>
              </a:spcBef>
              <a:defRPr sz="1100">
                <a:solidFill>
                  <a:srgbClr val="334155"/>
                </a:solidFill>
                <a:latin typeface="Arial"/>
              </a:defRPr>
            </a:pPr>
            <a:r>
              <a:t>• Presentation Attack Detection (PAD)</a:t>
            </a:r>
            <a:br/>
            <a:r>
              <a:t>• Uses paper cutouts, 3D silicone masks, or phone screens shown to camera</a:t>
            </a:r>
            <a:br/>
            <a:r>
              <a:t>• Legacy Defense: Detects skin texture, eye blinks, &amp; 3D depth maps</a:t>
            </a:r>
            <a:br/>
            <a:r>
              <a:t>• Status: Mostly mitigated by modern optical liveness algorithms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737360"/>
            <a:ext cx="2560320" cy="50800"/>
          </a:xfrm>
          <a:prstGeom prst="rect">
            <a:avLst/>
          </a:prstGeom>
          <a:solidFill>
            <a:srgbClr val="006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456432" y="1737360"/>
            <a:ext cx="2560320" cy="4572000"/>
          </a:xfrm>
          <a:prstGeom prst="roundRect">
            <a:avLst/>
          </a:prstGeom>
          <a:solidFill>
            <a:srgbClr val="F4F8F6"/>
          </a:solidFill>
          <a:ln w="12700">
            <a:solidFill>
              <a:srgbClr val="D0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400" b="1">
                <a:solidFill>
                  <a:srgbClr val="006642"/>
                </a:solidFill>
                <a:latin typeface="Georgia"/>
              </a:defRPr>
            </a:pPr>
            <a:r>
              <a:t>Digital Injection Attack (IAD)</a:t>
            </a:r>
          </a:p>
          <a:p>
            <a:pPr>
              <a:spcBef>
                <a:spcPts val="400"/>
              </a:spcBef>
              <a:defRPr sz="1100" b="1">
                <a:solidFill>
                  <a:srgbClr val="0F172A"/>
                </a:solidFill>
                <a:latin typeface="Arial"/>
              </a:defRPr>
            </a:pPr>
            <a:r>
              <a:t>Virtual Camera Data Feeds</a:t>
            </a:r>
          </a:p>
          <a:p>
            <a:pPr>
              <a:spcBef>
                <a:spcPts val="800"/>
              </a:spcBef>
              <a:defRPr sz="1100">
                <a:solidFill>
                  <a:srgbClr val="334155"/>
                </a:solidFill>
                <a:latin typeface="Arial"/>
              </a:defRPr>
            </a:pPr>
            <a:r>
              <a:t>• Injector Attack Detection (IAD)</a:t>
            </a:r>
            <a:br/>
            <a:r>
              <a:t>• Bypasses physical camera sensor entirely by injecting synthetic frames</a:t>
            </a:r>
            <a:br/>
            <a:r>
              <a:t>• Tools: OBS Studio, DeepFaceLive, Android Virtual Camera emulators</a:t>
            </a:r>
            <a:br/>
            <a:r>
              <a:t>• Status: Critical Vulnerability across legacy onboarding apps</a:t>
            </a:r>
          </a:p>
        </p:txBody>
      </p:sp>
      <p:sp>
        <p:nvSpPr>
          <p:cNvPr id="8" name="Rectangle 7"/>
          <p:cNvSpPr/>
          <p:nvPr/>
        </p:nvSpPr>
        <p:spPr>
          <a:xfrm>
            <a:off x="3456432" y="1737360"/>
            <a:ext cx="2560320" cy="50800"/>
          </a:xfrm>
          <a:prstGeom prst="rect">
            <a:avLst/>
          </a:prstGeom>
          <a:solidFill>
            <a:srgbClr val="006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81344" y="1737360"/>
            <a:ext cx="2560320" cy="4572000"/>
          </a:xfrm>
          <a:prstGeom prst="roundRect">
            <a:avLst/>
          </a:prstGeom>
          <a:solidFill>
            <a:srgbClr val="F4F8F6"/>
          </a:solidFill>
          <a:ln w="12700">
            <a:solidFill>
              <a:srgbClr val="D0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400" b="1">
                <a:solidFill>
                  <a:srgbClr val="006642"/>
                </a:solidFill>
                <a:latin typeface="Georgia"/>
              </a:defRPr>
            </a:pPr>
            <a:r>
              <a:t>Dynamic Motion Bypass</a:t>
            </a:r>
          </a:p>
          <a:p>
            <a:pPr>
              <a:spcBef>
                <a:spcPts val="400"/>
              </a:spcBef>
              <a:defRPr sz="1100" b="1">
                <a:solidFill>
                  <a:srgbClr val="0F172A"/>
                </a:solidFill>
                <a:latin typeface="Arial"/>
              </a:defRPr>
            </a:pPr>
            <a:r>
              <a:t>Prompt Evasion Software</a:t>
            </a:r>
          </a:p>
          <a:p>
            <a:pPr>
              <a:spcBef>
                <a:spcPts val="800"/>
              </a:spcBef>
              <a:defRPr sz="1100">
                <a:solidFill>
                  <a:srgbClr val="334155"/>
                </a:solidFill>
                <a:latin typeface="Arial"/>
              </a:defRPr>
            </a:pPr>
            <a:r>
              <a:t>• Real-Time Rendering: Software tracks face mesh and renders head turns, smiles, or blinks on demand</a:t>
            </a:r>
            <a:br/>
            <a:r>
              <a:t>• Bypasses active liveness prompts ('turn head left', 'blink twice') seamlessly</a:t>
            </a:r>
            <a:br/>
            <a:r>
              <a:t>• Commercial Threat: Sold as turn-key software kits on Telegram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81344" y="1737360"/>
            <a:ext cx="2560320" cy="50800"/>
          </a:xfrm>
          <a:prstGeom prst="rect">
            <a:avLst/>
          </a:prstGeom>
          <a:solidFill>
            <a:srgbClr val="006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906256" y="1737360"/>
            <a:ext cx="2560320" cy="4572000"/>
          </a:xfrm>
          <a:prstGeom prst="roundRect">
            <a:avLst/>
          </a:prstGeom>
          <a:solidFill>
            <a:srgbClr val="F4F8F6"/>
          </a:solidFill>
          <a:ln w="12700">
            <a:solidFill>
              <a:srgbClr val="D0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400" b="1">
                <a:solidFill>
                  <a:srgbClr val="006642"/>
                </a:solidFill>
                <a:latin typeface="Georgia"/>
              </a:defRPr>
            </a:pPr>
            <a:r>
              <a:t>Hardware Attestation</a:t>
            </a:r>
          </a:p>
          <a:p>
            <a:pPr>
              <a:spcBef>
                <a:spcPts val="400"/>
              </a:spcBef>
              <a:defRPr sz="1100" b="1">
                <a:solidFill>
                  <a:srgbClr val="0F172A"/>
                </a:solidFill>
                <a:latin typeface="Arial"/>
              </a:defRPr>
            </a:pPr>
            <a:r>
              <a:t>CEN 18099 Benchmark Standard</a:t>
            </a:r>
          </a:p>
          <a:p>
            <a:pPr>
              <a:spcBef>
                <a:spcPts val="800"/>
              </a:spcBef>
              <a:defRPr sz="1100">
                <a:solidFill>
                  <a:srgbClr val="334155"/>
                </a:solidFill>
                <a:latin typeface="Arial"/>
              </a:defRPr>
            </a:pPr>
            <a:r>
              <a:t>• Industry Solution: Cryptographic attestation linking camera sensor directly to secure hardware chip</a:t>
            </a:r>
            <a:br/>
            <a:r>
              <a:t>• European Standard: CEN 18099 benchmark testing for biometrics</a:t>
            </a:r>
            <a:br/>
            <a:r>
              <a:t>• Requirement: Rejects all non-hardware signed camera streams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906256" y="1737360"/>
            <a:ext cx="2560320" cy="50800"/>
          </a:xfrm>
          <a:prstGeom prst="rect">
            <a:avLst/>
          </a:prstGeom>
          <a:solidFill>
            <a:srgbClr val="006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6642"/>
                </a:solidFill>
                <a:latin typeface="Arial"/>
              </a:defRPr>
            </a:pPr>
            <a:r>
              <a:t>ATTACK FAMILY A | IDENTITY FABRICATION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Georgia"/>
              </a:defRPr>
            </a:pPr>
            <a:r>
              <a:t>Synthetic Personas Fabricated for Under $15 Drive $40B in Financial Losses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08760"/>
            <a:ext cx="10728655" cy="25400"/>
          </a:xfrm>
          <a:prstGeom prst="rect">
            <a:avLst/>
          </a:prstGeom>
          <a:solidFill>
            <a:srgbClr val="006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943600" cy="4572000"/>
          </a:xfrm>
          <a:prstGeom prst="roundRect">
            <a:avLst/>
          </a:prstGeom>
          <a:solidFill>
            <a:srgbClr val="F4F8F6"/>
          </a:solidFill>
          <a:ln w="12700">
            <a:solidFill>
              <a:srgbClr val="D0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defRPr sz="1800" b="1">
                <a:solidFill>
                  <a:srgbClr val="006642"/>
                </a:solidFill>
                <a:latin typeface="Georgia"/>
              </a:defRPr>
            </a:pPr>
            <a:r>
              <a:t>Lifecycle of Synthetic Identity Fraud</a:t>
            </a:r>
          </a:p>
          <a:p>
            <a:pPr>
              <a:spcBef>
                <a:spcPts val="800"/>
              </a:spcBef>
              <a:defRPr sz="1300" b="1">
                <a:solidFill>
                  <a:srgbClr val="0F172A"/>
                </a:solidFill>
                <a:latin typeface="Arial"/>
              </a:defRPr>
            </a:pPr>
            <a:r>
              <a:t>1. Data Harvesting</a:t>
            </a:r>
          </a:p>
          <a:p>
            <a:pPr>
              <a:defRPr sz="1100">
                <a:solidFill>
                  <a:srgbClr val="334155"/>
                </a:solidFill>
                <a:latin typeface="Arial"/>
              </a:defRPr>
            </a:pPr>
            <a:r>
              <a:t>Real Social Security Numbers (SSNs) from children or elderly individuals are combined with AI-generated names and addresses.</a:t>
            </a:r>
          </a:p>
          <a:p>
            <a:pPr>
              <a:spcBef>
                <a:spcPts val="800"/>
              </a:spcBef>
              <a:defRPr sz="1300" b="1">
                <a:solidFill>
                  <a:srgbClr val="0F172A"/>
                </a:solidFill>
                <a:latin typeface="Arial"/>
              </a:defRPr>
            </a:pPr>
            <a:r>
              <a:t>2. Document Forgery</a:t>
            </a:r>
          </a:p>
          <a:p>
            <a:pPr>
              <a:defRPr sz="1100">
                <a:solidFill>
                  <a:srgbClr val="334155"/>
                </a:solidFill>
                <a:latin typeface="Arial"/>
              </a:defRPr>
            </a:pPr>
            <a:r>
              <a:t>Dark web tools generate matching high-resolution driver's licenses and utility bills for under $15.</a:t>
            </a:r>
          </a:p>
          <a:p>
            <a:pPr>
              <a:spcBef>
                <a:spcPts val="800"/>
              </a:spcBef>
              <a:defRPr sz="1300" b="1">
                <a:solidFill>
                  <a:srgbClr val="0F172A"/>
                </a:solidFill>
                <a:latin typeface="Arial"/>
              </a:defRPr>
            </a:pPr>
            <a:r>
              <a:t>3. Credit Profile Nurturing</a:t>
            </a:r>
          </a:p>
          <a:p>
            <a:pPr>
              <a:defRPr sz="1100">
                <a:solidFill>
                  <a:srgbClr val="334155"/>
                </a:solidFill>
                <a:latin typeface="Arial"/>
              </a:defRPr>
            </a:pPr>
            <a:r>
              <a:t>AI bots apply for store credit cards, pay bills automatically, and build a high credit score over 6–18 months.</a:t>
            </a:r>
          </a:p>
          <a:p>
            <a:pPr>
              <a:spcBef>
                <a:spcPts val="800"/>
              </a:spcBef>
              <a:defRPr sz="1300" b="1">
                <a:solidFill>
                  <a:srgbClr val="0F172A"/>
                </a:solidFill>
                <a:latin typeface="Arial"/>
              </a:defRPr>
            </a:pPr>
            <a:r>
              <a:t>4. Synchronized Bust-Out</a:t>
            </a:r>
          </a:p>
          <a:p>
            <a:pPr>
              <a:defRPr sz="1100">
                <a:solidFill>
                  <a:srgbClr val="334155"/>
                </a:solidFill>
                <a:latin typeface="Arial"/>
              </a:defRPr>
            </a:pPr>
            <a:r>
              <a:t>Once credit limits reach $50k–$100k, bots max out all credit lines simultaneously and abandon the identity.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737360"/>
            <a:ext cx="5943600" cy="50800"/>
          </a:xfrm>
          <a:prstGeom prst="rect">
            <a:avLst/>
          </a:prstGeom>
          <a:solidFill>
            <a:srgbClr val="006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85432" y="1737360"/>
            <a:ext cx="457200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defRPr sz="1800" b="1">
                <a:solidFill>
                  <a:srgbClr val="006642"/>
                </a:solidFill>
                <a:latin typeface="Georgia"/>
              </a:defRPr>
            </a:pPr>
            <a:r>
              <a:t>Key Metrics &amp; Impact</a:t>
            </a:r>
          </a:p>
          <a:p>
            <a:pPr>
              <a:spcBef>
                <a:spcPts val="1000"/>
              </a:spcBef>
              <a:defRPr sz="1200">
                <a:solidFill>
                  <a:srgbClr val="334155"/>
                </a:solidFill>
                <a:latin typeface="Arial"/>
              </a:defRPr>
            </a:pPr>
            <a:r>
              <a:t>• $40B Annual Industry Loss: Fast-growing fraud category for US banks due to difficulty distinguishing synthetic IDs from real customers.</a:t>
            </a:r>
            <a:br/>
            <a:r>
              <a:t>• Coinbase 70k Record Leak: Data breach exposed thousands of government IDs, enabling mass identity cloning.</a:t>
            </a:r>
            <a:br/>
            <a:r>
              <a:t>• Automated Mule Networks: Synthetic IDs are used to open thousands of digital bank accounts to launder stolen funds from phishing scams.</a:t>
            </a:r>
            <a:br/>
            <a:r>
              <a:t>• Detection Failure: Legacy credit scoring models view synthetic IDs as 'thin-file' consumers rather than fraudulent entities.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885432" y="1737360"/>
            <a:ext cx="4572000" cy="50800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E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7280" y="2011680"/>
            <a:ext cx="1828800" cy="50800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2860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A86B"/>
                </a:solidFill>
                <a:latin typeface="Arial"/>
              </a:defRPr>
            </a:pPr>
            <a:r>
              <a:t>ATTACK FAMILY B</a:t>
            </a:r>
          </a:p>
          <a:p>
            <a:pPr>
              <a:spcBef>
                <a:spcPts val="1000"/>
              </a:spcBef>
              <a:defRPr sz="3600" b="1">
                <a:solidFill>
                  <a:srgbClr val="FFFFFF"/>
                </a:solidFill>
                <a:latin typeface="Georgia"/>
              </a:defRPr>
            </a:pPr>
            <a:r>
              <a:t>Automated Social Engineering &amp; Session Theft</a:t>
            </a:r>
          </a:p>
          <a:p>
            <a:pPr>
              <a:spcBef>
                <a:spcPts val="1600"/>
              </a:spcBef>
              <a:defRPr sz="1800">
                <a:solidFill>
                  <a:srgbClr val="94A3B8"/>
                </a:solidFill>
                <a:latin typeface="Arial"/>
              </a:defRPr>
            </a:pPr>
            <a:r>
              <a:t>Focus: Dark LLMs (WormGPT, FraudGPT), Adversary-in-the-Middle (AiTM) Reverse Proxies for MFA Bypass, and Automated Relationship Scams.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6642"/>
                </a:solidFill>
                <a:latin typeface="Arial"/>
              </a:defRPr>
            </a:pPr>
            <a:r>
              <a:t>ATTACK FAMILY B | SOCIAL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Georgia"/>
              </a:defRPr>
            </a:pPr>
            <a:r>
              <a:t>Uncensored Dark LLMs Collapsed Spear-Phishing Prep from 16 Hours to 5 Minutes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08760"/>
            <a:ext cx="10728655" cy="25400"/>
          </a:xfrm>
          <a:prstGeom prst="rect">
            <a:avLst/>
          </a:prstGeom>
          <a:solidFill>
            <a:srgbClr val="006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257800" cy="4572000"/>
          </a:xfrm>
          <a:prstGeom prst="roundRect">
            <a:avLst/>
          </a:prstGeom>
          <a:solidFill>
            <a:srgbClr val="F4F8F6"/>
          </a:solidFill>
          <a:ln w="12700">
            <a:solidFill>
              <a:srgbClr val="D0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defRPr sz="1800" b="1">
                <a:solidFill>
                  <a:srgbClr val="0F172A"/>
                </a:solidFill>
                <a:latin typeface="Georgia"/>
              </a:defRPr>
            </a:pPr>
            <a:r>
              <a:t>Traditional Spear-Phishing (Legacy)</a:t>
            </a:r>
          </a:p>
          <a:p>
            <a:pPr>
              <a:spcBef>
                <a:spcPts val="1200"/>
              </a:spcBef>
              <a:defRPr sz="1300">
                <a:solidFill>
                  <a:srgbClr val="334155"/>
                </a:solidFill>
                <a:latin typeface="Arial"/>
              </a:defRPr>
            </a:pPr>
            <a:r>
              <a:t>• Prep Time: 16 hours per target (manual LinkedIn recon, crafting custom emails, proofreading).</a:t>
            </a:r>
            <a:br/>
            <a:r>
              <a:t>• Language Fluency: Poor grammar, awkward phrasing, and generic templates easily spotted by employees.</a:t>
            </a:r>
            <a:br/>
            <a:r>
              <a:t>• Click-Through Rate: ~12% average engagement rate.</a:t>
            </a:r>
            <a:br/>
            <a:r>
              <a:t>• Scale: Low volume due to heavy manual labor requirements.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737360"/>
            <a:ext cx="5257800" cy="5080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199632" y="1737360"/>
            <a:ext cx="525780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defRPr sz="1800" b="1">
                <a:solidFill>
                  <a:srgbClr val="006642"/>
                </a:solidFill>
                <a:latin typeface="Georgia"/>
              </a:defRPr>
            </a:pPr>
            <a:r>
              <a:t>Dark LLM Phishing (WormGPT / FraudGPT)</a:t>
            </a:r>
          </a:p>
          <a:p>
            <a:pPr>
              <a:spcBef>
                <a:spcPts val="1200"/>
              </a:spcBef>
              <a:defRPr sz="1300">
                <a:solidFill>
                  <a:srgbClr val="334155"/>
                </a:solidFill>
                <a:latin typeface="Arial"/>
              </a:defRPr>
            </a:pPr>
            <a:r>
              <a:t>• Prep Time: 5 minutes (automated scraper feeds victim data into uncensored LLM).</a:t>
            </a:r>
            <a:br/>
            <a:r>
              <a:t>• Language Fluency: Native-level grammar, flawless tone matching, and corporate jargon in 30+ languages.</a:t>
            </a:r>
            <a:br/>
            <a:r>
              <a:t>• Click-Through Rate: 54% engagement rate (4.5x increase).</a:t>
            </a:r>
            <a:br/>
            <a:r>
              <a:t>• Scale: Millions of hyper-personalized emails generated continuously.</a:t>
            </a:r>
          </a:p>
        </p:txBody>
      </p:sp>
      <p:sp>
        <p:nvSpPr>
          <p:cNvPr id="8" name="Rectangle 7"/>
          <p:cNvSpPr/>
          <p:nvPr/>
        </p:nvSpPr>
        <p:spPr>
          <a:xfrm>
            <a:off x="6199632" y="1737360"/>
            <a:ext cx="5257800" cy="50800"/>
          </a:xfrm>
          <a:prstGeom prst="rect">
            <a:avLst/>
          </a:prstGeom>
          <a:solidFill>
            <a:srgbClr val="006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6642"/>
                </a:solidFill>
                <a:latin typeface="Arial"/>
              </a:defRPr>
            </a:pPr>
            <a:r>
              <a:t>ATTACK FAMILY B | SESSION THEFT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Georgia"/>
              </a:defRPr>
            </a:pPr>
            <a:r>
              <a:t>Adversary-in-the-Middle (AiTM) Reverse Proxies Bypass MFA via Live Token Theft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08760"/>
            <a:ext cx="10728655" cy="25400"/>
          </a:xfrm>
          <a:prstGeom prst="rect">
            <a:avLst/>
          </a:prstGeom>
          <a:solidFill>
            <a:srgbClr val="006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2560320" cy="2926080"/>
          </a:xfrm>
          <a:prstGeom prst="roundRect">
            <a:avLst/>
          </a:prstGeom>
          <a:solidFill>
            <a:srgbClr val="F4F8F6"/>
          </a:solidFill>
          <a:ln w="12700">
            <a:solidFill>
              <a:srgbClr val="D0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400" b="1">
                <a:solidFill>
                  <a:srgbClr val="006642"/>
                </a:solidFill>
                <a:latin typeface="Georgia"/>
              </a:defRPr>
            </a:pPr>
            <a:r>
              <a:t>1. AI Target Lure</a:t>
            </a:r>
          </a:p>
          <a:p>
            <a:pPr>
              <a:spcBef>
                <a:spcPts val="800"/>
              </a:spcBef>
              <a:defRPr sz="1100">
                <a:solidFill>
                  <a:srgbClr val="334155"/>
                </a:solidFill>
                <a:latin typeface="Arial"/>
              </a:defRPr>
            </a:pPr>
            <a:r>
              <a:t>Victim receives personalized phishing link spoofing bank portal.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737360"/>
            <a:ext cx="2560320" cy="50800"/>
          </a:xfrm>
          <a:prstGeom prst="rect">
            <a:avLst/>
          </a:prstGeom>
          <a:solidFill>
            <a:srgbClr val="006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456432" y="1737360"/>
            <a:ext cx="2560320" cy="2926080"/>
          </a:xfrm>
          <a:prstGeom prst="roundRect">
            <a:avLst/>
          </a:prstGeom>
          <a:solidFill>
            <a:srgbClr val="F4F8F6"/>
          </a:solidFill>
          <a:ln w="12700">
            <a:solidFill>
              <a:srgbClr val="D0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400" b="1">
                <a:solidFill>
                  <a:srgbClr val="006642"/>
                </a:solidFill>
                <a:latin typeface="Georgia"/>
              </a:defRPr>
            </a:pPr>
            <a:r>
              <a:t>2. AiTM Reverse Proxy</a:t>
            </a:r>
          </a:p>
          <a:p>
            <a:pPr>
              <a:spcBef>
                <a:spcPts val="800"/>
              </a:spcBef>
              <a:defRPr sz="1100">
                <a:solidFill>
                  <a:srgbClr val="334155"/>
                </a:solidFill>
                <a:latin typeface="Arial"/>
              </a:defRPr>
            </a:pPr>
            <a:r>
              <a:t>Victim connects to proxy (Evilproxy/Tycoon 2FA) which forwards requests to real bank.</a:t>
            </a:r>
          </a:p>
        </p:txBody>
      </p:sp>
      <p:sp>
        <p:nvSpPr>
          <p:cNvPr id="8" name="Rectangle 7"/>
          <p:cNvSpPr/>
          <p:nvPr/>
        </p:nvSpPr>
        <p:spPr>
          <a:xfrm>
            <a:off x="3456432" y="1737360"/>
            <a:ext cx="2560320" cy="50800"/>
          </a:xfrm>
          <a:prstGeom prst="rect">
            <a:avLst/>
          </a:prstGeom>
          <a:solidFill>
            <a:srgbClr val="006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81344" y="1737360"/>
            <a:ext cx="2560320" cy="2926080"/>
          </a:xfrm>
          <a:prstGeom prst="roundRect">
            <a:avLst/>
          </a:prstGeom>
          <a:solidFill>
            <a:srgbClr val="F4F8F6"/>
          </a:solidFill>
          <a:ln w="12700">
            <a:solidFill>
              <a:srgbClr val="D0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400" b="1">
                <a:solidFill>
                  <a:srgbClr val="006642"/>
                </a:solidFill>
                <a:latin typeface="Georgia"/>
              </a:defRPr>
            </a:pPr>
            <a:r>
              <a:t>3. Live OTP Capture</a:t>
            </a:r>
          </a:p>
          <a:p>
            <a:pPr>
              <a:spcBef>
                <a:spcPts val="800"/>
              </a:spcBef>
              <a:defRPr sz="1100">
                <a:solidFill>
                  <a:srgbClr val="334155"/>
                </a:solidFill>
                <a:latin typeface="Arial"/>
              </a:defRPr>
            </a:pPr>
            <a:r>
              <a:t>Victim enters username, password, and One-Time Password (OTP); proxy passes it to real bank.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81344" y="1737360"/>
            <a:ext cx="2560320" cy="50800"/>
          </a:xfrm>
          <a:prstGeom prst="rect">
            <a:avLst/>
          </a:prstGeom>
          <a:solidFill>
            <a:srgbClr val="006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906256" y="1737360"/>
            <a:ext cx="2560320" cy="2926080"/>
          </a:xfrm>
          <a:prstGeom prst="roundRect">
            <a:avLst/>
          </a:prstGeom>
          <a:solidFill>
            <a:srgbClr val="F4F8F6"/>
          </a:solidFill>
          <a:ln w="12700">
            <a:solidFill>
              <a:srgbClr val="D0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400" b="1">
                <a:solidFill>
                  <a:srgbClr val="006642"/>
                </a:solidFill>
                <a:latin typeface="Georgia"/>
              </a:defRPr>
            </a:pPr>
            <a:r>
              <a:t>4. Session Token Theft</a:t>
            </a:r>
          </a:p>
          <a:p>
            <a:pPr>
              <a:spcBef>
                <a:spcPts val="800"/>
              </a:spcBef>
              <a:defRPr sz="1100">
                <a:solidFill>
                  <a:srgbClr val="334155"/>
                </a:solidFill>
                <a:latin typeface="Arial"/>
              </a:defRPr>
            </a:pPr>
            <a:r>
              <a:t>Proxy intercepts authentication cookie/token and hijacks account instantly.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906256" y="1737360"/>
            <a:ext cx="2560320" cy="50800"/>
          </a:xfrm>
          <a:prstGeom prst="rect">
            <a:avLst/>
          </a:prstGeom>
          <a:solidFill>
            <a:srgbClr val="006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31520" y="4846320"/>
            <a:ext cx="10728655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37160"/>
          <a:lstStyle/>
          <a:p>
            <a:pPr algn="ctr">
              <a:defRPr sz="1500" b="1">
                <a:solidFill>
                  <a:srgbClr val="006642"/>
                </a:solidFill>
                <a:latin typeface="Georgia"/>
              </a:defRPr>
            </a:pPr>
            <a:r>
              <a:t>Strategic Threat: Failure of Traditional Multi-Factor Authentication (MFA)</a:t>
            </a:r>
          </a:p>
          <a:p>
            <a:pPr>
              <a:spcBef>
                <a:spcPts val="400"/>
              </a:spcBef>
              <a:defRPr sz="1100">
                <a:solidFill>
                  <a:srgbClr val="334155"/>
                </a:solidFill>
                <a:latin typeface="Arial"/>
              </a:defRPr>
            </a:pPr>
            <a:r>
              <a:t>• SMS &amp; Authenticator App Vulnerability: Traditional One-Time Passwords (OTPs) do not bind authentication to the victim's domain, allowing reverse proxies to proxy the session seamlessly.</a:t>
            </a:r>
            <a:br/>
            <a:r>
              <a:t>• Open Banking Exploitation: Once the session token is stolen, attackers access Open Banking APIs to drain funds, modify wire templates, and execute lateral transfers before the victim notices.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4846320"/>
            <a:ext cx="10728655" cy="50800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6642"/>
                </a:solidFill>
                <a:latin typeface="Arial"/>
              </a:defRPr>
            </a:pPr>
            <a:r>
              <a:t>ATTACK FAMILY B | SCAM AUTOMATION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Georgia"/>
              </a:defRPr>
            </a:pPr>
            <a:r>
              <a:t>Emotionally Intelligent LLM Bots Scale Investment Fraud to Achieve 4.5x Profitability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08760"/>
            <a:ext cx="10728655" cy="25400"/>
          </a:xfrm>
          <a:prstGeom prst="rect">
            <a:avLst/>
          </a:prstGeom>
          <a:solidFill>
            <a:srgbClr val="006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257800" cy="2194560"/>
          </a:xfrm>
          <a:prstGeom prst="roundRect">
            <a:avLst/>
          </a:prstGeom>
          <a:solidFill>
            <a:srgbClr val="F4F8F6"/>
          </a:solidFill>
          <a:ln w="12700">
            <a:solidFill>
              <a:srgbClr val="D0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/>
          <a:lstStyle/>
          <a:p>
            <a:pPr algn="ctr">
              <a:defRPr sz="1600" b="1">
                <a:solidFill>
                  <a:srgbClr val="006642"/>
                </a:solidFill>
                <a:latin typeface="Georgia"/>
              </a:defRPr>
            </a:pPr>
            <a:r>
              <a:t>24/7 LLM Engagement</a:t>
            </a:r>
          </a:p>
          <a:p>
            <a:pPr>
              <a:spcBef>
                <a:spcPts val="800"/>
              </a:spcBef>
              <a:defRPr sz="1200">
                <a:solidFill>
                  <a:srgbClr val="334155"/>
                </a:solidFill>
                <a:latin typeface="Arial"/>
              </a:defRPr>
            </a:pPr>
            <a:r>
              <a:t>AI bots maintain months-long romantic or friendly conversations across WhatsApp and Telegram, building intense emotional trust without human fatigue.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737360"/>
            <a:ext cx="5257800" cy="50800"/>
          </a:xfrm>
          <a:prstGeom prst="rect">
            <a:avLst/>
          </a:prstGeom>
          <a:solidFill>
            <a:srgbClr val="006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199632" y="1737360"/>
            <a:ext cx="5257800" cy="2194560"/>
          </a:xfrm>
          <a:prstGeom prst="roundRect">
            <a:avLst/>
          </a:prstGeom>
          <a:solidFill>
            <a:srgbClr val="F4F8F6"/>
          </a:solidFill>
          <a:ln w="12700">
            <a:solidFill>
              <a:srgbClr val="D0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/>
          <a:lstStyle/>
          <a:p>
            <a:pPr algn="ctr">
              <a:defRPr sz="1600" b="1">
                <a:solidFill>
                  <a:srgbClr val="006642"/>
                </a:solidFill>
                <a:latin typeface="Georgia"/>
              </a:defRPr>
            </a:pPr>
            <a:r>
              <a:t>Manipulated Crypto Platforms</a:t>
            </a:r>
          </a:p>
          <a:p>
            <a:pPr>
              <a:spcBef>
                <a:spcPts val="800"/>
              </a:spcBef>
              <a:defRPr sz="1200">
                <a:solidFill>
                  <a:srgbClr val="334155"/>
                </a:solidFill>
                <a:latin typeface="Arial"/>
              </a:defRPr>
            </a:pPr>
            <a:r>
              <a:t>Bots guide victims to fake cryptocurrency investment dashboards showing artificial profits, encouraging larger wire deposits.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199632" y="1737360"/>
            <a:ext cx="5257800" cy="50800"/>
          </a:xfrm>
          <a:prstGeom prst="rect">
            <a:avLst/>
          </a:prstGeom>
          <a:solidFill>
            <a:srgbClr val="006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4114800"/>
            <a:ext cx="5257800" cy="2194560"/>
          </a:xfrm>
          <a:prstGeom prst="roundRect">
            <a:avLst/>
          </a:prstGeom>
          <a:solidFill>
            <a:srgbClr val="F4F8F6"/>
          </a:solidFill>
          <a:ln w="12700">
            <a:solidFill>
              <a:srgbClr val="D0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/>
          <a:lstStyle/>
          <a:p>
            <a:pPr algn="ctr">
              <a:defRPr sz="1600" b="1">
                <a:solidFill>
                  <a:srgbClr val="006642"/>
                </a:solidFill>
                <a:latin typeface="Georgia"/>
              </a:defRPr>
            </a:pPr>
            <a:r>
              <a:t>Check Point 'Truman Show' Ops</a:t>
            </a:r>
          </a:p>
          <a:p>
            <a:pPr>
              <a:spcBef>
                <a:spcPts val="800"/>
              </a:spcBef>
              <a:defRPr sz="1200">
                <a:solidFill>
                  <a:srgbClr val="334155"/>
                </a:solidFill>
                <a:latin typeface="Arial"/>
              </a:defRPr>
            </a:pPr>
            <a:r>
              <a:t>Security researchers uncovered operations where 90+ AI bots created an entire fake social network around a single victim to validate the scam.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4114800"/>
            <a:ext cx="5257800" cy="50800"/>
          </a:xfrm>
          <a:prstGeom prst="rect">
            <a:avLst/>
          </a:prstGeom>
          <a:solidFill>
            <a:srgbClr val="006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199632" y="4114800"/>
            <a:ext cx="5257800" cy="2194560"/>
          </a:xfrm>
          <a:prstGeom prst="roundRect">
            <a:avLst/>
          </a:prstGeom>
          <a:solidFill>
            <a:srgbClr val="F4F8F6"/>
          </a:solidFill>
          <a:ln w="12700">
            <a:solidFill>
              <a:srgbClr val="D0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/>
          <a:lstStyle/>
          <a:p>
            <a:pPr algn="ctr">
              <a:defRPr sz="1600" b="1">
                <a:solidFill>
                  <a:srgbClr val="006642"/>
                </a:solidFill>
                <a:latin typeface="Georgia"/>
              </a:defRPr>
            </a:pPr>
            <a:r>
              <a:t>4.5x Profit Multiplier</a:t>
            </a:r>
          </a:p>
          <a:p>
            <a:pPr>
              <a:spcBef>
                <a:spcPts val="800"/>
              </a:spcBef>
              <a:defRPr sz="1200">
                <a:solidFill>
                  <a:srgbClr val="334155"/>
                </a:solidFill>
                <a:latin typeface="Arial"/>
              </a:defRPr>
            </a:pPr>
            <a:r>
              <a:t>Automated rapport-building allows criminal syndicates to manage 10x more victims simultaneously, driving record fraud yields.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99632" y="4114800"/>
            <a:ext cx="5257800" cy="50800"/>
          </a:xfrm>
          <a:prstGeom prst="rect">
            <a:avLst/>
          </a:prstGeom>
          <a:solidFill>
            <a:srgbClr val="006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E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7280" y="2011680"/>
            <a:ext cx="1828800" cy="50800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2860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A86B"/>
                </a:solidFill>
                <a:latin typeface="Arial"/>
              </a:defRPr>
            </a:pPr>
            <a:r>
              <a:t>ATTACK FAMILY C</a:t>
            </a:r>
          </a:p>
          <a:p>
            <a:pPr>
              <a:spcBef>
                <a:spcPts val="1000"/>
              </a:spcBef>
              <a:defRPr sz="3600" b="1">
                <a:solidFill>
                  <a:srgbClr val="FFFFFF"/>
                </a:solidFill>
                <a:latin typeface="Georgia"/>
              </a:defRPr>
            </a:pPr>
            <a:r>
              <a:t>Autonomous AI Cyber Operations</a:t>
            </a:r>
          </a:p>
          <a:p>
            <a:pPr>
              <a:spcBef>
                <a:spcPts val="1600"/>
              </a:spcBef>
              <a:defRPr sz="1800">
                <a:solidFill>
                  <a:srgbClr val="94A3B8"/>
                </a:solidFill>
                <a:latin typeface="Arial"/>
              </a:defRPr>
            </a:pPr>
            <a:r>
              <a:t>Anthropic Threat Intelligence (Sept 2026): Self-Healing Malware, Autonomous Exploit Foundries, and Mass Cloud Credential Exfiltration.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6642"/>
                </a:solidFill>
                <a:latin typeface="Arial"/>
              </a:defRPr>
            </a:pPr>
            <a:r>
              <a:t>ATTACK FAMILY C | ANTHROPIC TELEMETRY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Georgia"/>
              </a:defRPr>
            </a:pPr>
            <a:r>
              <a:t>State Threat Actors Deploy AI Workflows to Autonomously Modify Code &amp; Evade EDR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08760"/>
            <a:ext cx="10728655" cy="25400"/>
          </a:xfrm>
          <a:prstGeom prst="rect">
            <a:avLst/>
          </a:prstGeom>
          <a:solidFill>
            <a:srgbClr val="006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257800" cy="4572000"/>
          </a:xfrm>
          <a:prstGeom prst="roundRect">
            <a:avLst/>
          </a:prstGeom>
          <a:solidFill>
            <a:srgbClr val="F4F8F6"/>
          </a:solidFill>
          <a:ln w="12700">
            <a:solidFill>
              <a:srgbClr val="D0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defRPr sz="1700" b="1">
                <a:solidFill>
                  <a:srgbClr val="006642"/>
                </a:solidFill>
                <a:latin typeface="Georgia"/>
              </a:defRPr>
            </a:pPr>
            <a:r>
              <a:t>Threat Actor GTG-20006 (Midnight Blizzard)</a:t>
            </a:r>
          </a:p>
          <a:p>
            <a:pPr>
              <a:spcBef>
                <a:spcPts val="1000"/>
              </a:spcBef>
              <a:defRPr sz="1300">
                <a:solidFill>
                  <a:srgbClr val="334155"/>
                </a:solidFill>
                <a:latin typeface="Arial"/>
              </a:defRPr>
            </a:pPr>
            <a:r>
              <a:t>• Russian State-Nexus Operator: Alias 'JackPoterz' targeted 20+ military and diplomatic entities across Europe.</a:t>
            </a:r>
            <a:br/>
            <a:r>
              <a:t>• AI-Augmented Kill Chain: Utilized LLM APIs to automate code obfuscation and analyze Endpoint Detection and Response (EDR) telemetry in real time.</a:t>
            </a:r>
            <a:br/>
            <a:r>
              <a:t>• Automated Malware Recompilation: When EDR flags a malicious payload, the AI script rewrites code variables and syntax until detection drops to 0%.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737360"/>
            <a:ext cx="5257800" cy="50800"/>
          </a:xfrm>
          <a:prstGeom prst="rect">
            <a:avLst/>
          </a:prstGeom>
          <a:solidFill>
            <a:srgbClr val="006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199632" y="1737360"/>
            <a:ext cx="525780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defRPr sz="1700" b="1">
                <a:solidFill>
                  <a:srgbClr val="006642"/>
                </a:solidFill>
                <a:latin typeface="Georgia"/>
              </a:defRPr>
            </a:pPr>
            <a:r>
              <a:t>Self-Healing Malware Mechanics</a:t>
            </a:r>
          </a:p>
          <a:p>
            <a:pPr>
              <a:spcBef>
                <a:spcPts val="1000"/>
              </a:spcBef>
              <a:defRPr sz="1200">
                <a:solidFill>
                  <a:srgbClr val="334155"/>
                </a:solidFill>
                <a:latin typeface="Arial"/>
              </a:defRPr>
            </a:pPr>
            <a:r>
              <a:t>1. Execution &amp; Detection: Malware executes on target server; corporate EDR flags suspicious memory signatures.</a:t>
            </a:r>
            <a:br/>
            <a:r>
              <a:t>2. Automated Feedback Loop: Malware sends local EDR error logs back to an automated AI API agent.</a:t>
            </a:r>
            <a:br/>
            <a:r>
              <a:t>3. Polymorphic Rewrite: AI agent restructures the code, swaps API calls, and recompiles binary within seconds.</a:t>
            </a:r>
            <a:br/>
            <a:r>
              <a:t>4. Re-Infiltration: Updated payload executes without triggering static or behavioral signatures.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199632" y="1737360"/>
            <a:ext cx="5257800" cy="50800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6642"/>
                </a:solidFill>
                <a:latin typeface="Arial"/>
              </a:defRPr>
            </a:pPr>
            <a:r>
              <a:t>ATTACK FAMILY C | ZERO-DAY EXPLOITATION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Georgia"/>
              </a:defRPr>
            </a:pPr>
            <a:r>
              <a:t>Autonomous AI Foundries Decompile Firmware &amp; Generate Zero-Days 24/7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08760"/>
            <a:ext cx="10728655" cy="25400"/>
          </a:xfrm>
          <a:prstGeom prst="rect">
            <a:avLst/>
          </a:prstGeom>
          <a:solidFill>
            <a:srgbClr val="006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2011680" cy="4389120"/>
          </a:xfrm>
          <a:prstGeom prst="roundRect">
            <a:avLst/>
          </a:prstGeom>
          <a:solidFill>
            <a:srgbClr val="F4F8F6"/>
          </a:solidFill>
          <a:ln w="12700">
            <a:solidFill>
              <a:srgbClr val="D0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82880"/>
          <a:lstStyle/>
          <a:p>
            <a:pPr algn="ctr">
              <a:defRPr sz="1300" b="1">
                <a:solidFill>
                  <a:srgbClr val="006642"/>
                </a:solidFill>
                <a:latin typeface="Georgia"/>
              </a:defRPr>
            </a:pPr>
            <a:r>
              <a:t>1. Firmware Survey</a:t>
            </a:r>
          </a:p>
          <a:p>
            <a:pPr>
              <a:spcBef>
                <a:spcPts val="800"/>
              </a:spcBef>
              <a:defRPr sz="1100">
                <a:solidFill>
                  <a:srgbClr val="334155"/>
                </a:solidFill>
                <a:latin typeface="Arial"/>
              </a:defRPr>
            </a:pPr>
            <a:r>
              <a:t>AI agents scan public network appliance firmware repos.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737360"/>
            <a:ext cx="2011680" cy="50800"/>
          </a:xfrm>
          <a:prstGeom prst="rect">
            <a:avLst/>
          </a:prstGeom>
          <a:solidFill>
            <a:srgbClr val="006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907791" y="1737360"/>
            <a:ext cx="2011680" cy="4389120"/>
          </a:xfrm>
          <a:prstGeom prst="roundRect">
            <a:avLst/>
          </a:prstGeom>
          <a:solidFill>
            <a:srgbClr val="F4F8F6"/>
          </a:solidFill>
          <a:ln w="12700">
            <a:solidFill>
              <a:srgbClr val="D0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82880"/>
          <a:lstStyle/>
          <a:p>
            <a:pPr algn="ctr">
              <a:defRPr sz="1300" b="1">
                <a:solidFill>
                  <a:srgbClr val="006642"/>
                </a:solidFill>
                <a:latin typeface="Georgia"/>
              </a:defRPr>
            </a:pPr>
            <a:r>
              <a:t>2. Automated Decompilation</a:t>
            </a:r>
          </a:p>
          <a:p>
            <a:pPr>
              <a:spcBef>
                <a:spcPts val="800"/>
              </a:spcBef>
              <a:defRPr sz="1100">
                <a:solidFill>
                  <a:srgbClr val="334155"/>
                </a:solidFill>
                <a:latin typeface="Arial"/>
              </a:defRPr>
            </a:pPr>
            <a:r>
              <a:t>Decompiles C/C++ binaries into readable pseudocode.</a:t>
            </a:r>
          </a:p>
        </p:txBody>
      </p:sp>
      <p:sp>
        <p:nvSpPr>
          <p:cNvPr id="8" name="Rectangle 7"/>
          <p:cNvSpPr/>
          <p:nvPr/>
        </p:nvSpPr>
        <p:spPr>
          <a:xfrm>
            <a:off x="2907791" y="1737360"/>
            <a:ext cx="2011680" cy="50800"/>
          </a:xfrm>
          <a:prstGeom prst="rect">
            <a:avLst/>
          </a:prstGeom>
          <a:solidFill>
            <a:srgbClr val="006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84064" y="1737360"/>
            <a:ext cx="2011680" cy="4389120"/>
          </a:xfrm>
          <a:prstGeom prst="roundRect">
            <a:avLst/>
          </a:prstGeom>
          <a:solidFill>
            <a:srgbClr val="F4F8F6"/>
          </a:solidFill>
          <a:ln w="12700">
            <a:solidFill>
              <a:srgbClr val="D0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82880"/>
          <a:lstStyle/>
          <a:p>
            <a:pPr algn="ctr">
              <a:defRPr sz="1300" b="1">
                <a:solidFill>
                  <a:srgbClr val="006642"/>
                </a:solidFill>
                <a:latin typeface="Georgia"/>
              </a:defRPr>
            </a:pPr>
            <a:r>
              <a:t>3. Memory Trace</a:t>
            </a:r>
          </a:p>
          <a:p>
            <a:pPr>
              <a:spcBef>
                <a:spcPts val="800"/>
              </a:spcBef>
              <a:defRPr sz="1100">
                <a:solidFill>
                  <a:srgbClr val="334155"/>
                </a:solidFill>
                <a:latin typeface="Arial"/>
              </a:defRPr>
            </a:pPr>
            <a:r>
              <a:t>Traces buffer overflows &amp; unauthenticated API endpoints.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84064" y="1737360"/>
            <a:ext cx="2011680" cy="50800"/>
          </a:xfrm>
          <a:prstGeom prst="rect">
            <a:avLst/>
          </a:prstGeom>
          <a:solidFill>
            <a:srgbClr val="006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260336" y="1737360"/>
            <a:ext cx="2011680" cy="4389120"/>
          </a:xfrm>
          <a:prstGeom prst="roundRect">
            <a:avLst/>
          </a:prstGeom>
          <a:solidFill>
            <a:srgbClr val="F4F8F6"/>
          </a:solidFill>
          <a:ln w="12700">
            <a:solidFill>
              <a:srgbClr val="D0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82880"/>
          <a:lstStyle/>
          <a:p>
            <a:pPr algn="ctr">
              <a:defRPr sz="1300" b="1">
                <a:solidFill>
                  <a:srgbClr val="006642"/>
                </a:solidFill>
                <a:latin typeface="Georgia"/>
              </a:defRPr>
            </a:pPr>
            <a:r>
              <a:t>4. Exploit Generation</a:t>
            </a:r>
          </a:p>
          <a:p>
            <a:pPr>
              <a:spcBef>
                <a:spcPts val="800"/>
              </a:spcBef>
              <a:defRPr sz="1100">
                <a:solidFill>
                  <a:srgbClr val="334155"/>
                </a:solidFill>
                <a:latin typeface="Arial"/>
              </a:defRPr>
            </a:pPr>
            <a:r>
              <a:t>Crafts functional Proof-of-Concept (PoC) exploit scripts.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60336" y="1737360"/>
            <a:ext cx="2011680" cy="50800"/>
          </a:xfrm>
          <a:prstGeom prst="rect">
            <a:avLst/>
          </a:prstGeom>
          <a:solidFill>
            <a:srgbClr val="006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436608" y="1737360"/>
            <a:ext cx="2011680" cy="4389120"/>
          </a:xfrm>
          <a:prstGeom prst="roundRect">
            <a:avLst/>
          </a:prstGeom>
          <a:solidFill>
            <a:srgbClr val="F4F8F6"/>
          </a:solidFill>
          <a:ln w="12700">
            <a:solidFill>
              <a:srgbClr val="D0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82880"/>
          <a:lstStyle/>
          <a:p>
            <a:pPr algn="ctr">
              <a:defRPr sz="1300" b="1">
                <a:solidFill>
                  <a:srgbClr val="006642"/>
                </a:solidFill>
                <a:latin typeface="Georgia"/>
              </a:defRPr>
            </a:pPr>
            <a:r>
              <a:t>5. 24/7 Production</a:t>
            </a:r>
          </a:p>
          <a:p>
            <a:pPr>
              <a:spcBef>
                <a:spcPts val="800"/>
              </a:spcBef>
              <a:defRPr sz="1100">
                <a:solidFill>
                  <a:srgbClr val="334155"/>
                </a:solidFill>
                <a:latin typeface="Arial"/>
              </a:defRPr>
            </a:pPr>
            <a:r>
              <a:t>Generates 12+ zero-day findings monthly unattended.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436608" y="1737360"/>
            <a:ext cx="2011680" cy="50800"/>
          </a:xfrm>
          <a:prstGeom prst="rect">
            <a:avLst/>
          </a:prstGeom>
          <a:solidFill>
            <a:srgbClr val="006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6642"/>
                </a:solidFill>
                <a:latin typeface="Arial"/>
              </a:defRPr>
            </a:pPr>
            <a:r>
              <a:t>ATTACK FAMILY C | CLOUD EXFILTRATION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Georgia"/>
              </a:defRPr>
            </a:pPr>
            <a:r>
              <a:t>Distributed AI Pipelines Decompile 1.8M Apps to Exfiltrate Cloud Keys in Hours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08760"/>
            <a:ext cx="10728655" cy="25400"/>
          </a:xfrm>
          <a:prstGeom prst="rect">
            <a:avLst/>
          </a:prstGeom>
          <a:solidFill>
            <a:srgbClr val="006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257800" cy="4572000"/>
          </a:xfrm>
          <a:prstGeom prst="roundRect">
            <a:avLst/>
          </a:prstGeom>
          <a:solidFill>
            <a:srgbClr val="F4F8F6"/>
          </a:solidFill>
          <a:ln w="12700">
            <a:solidFill>
              <a:srgbClr val="D0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defRPr sz="1700" b="1">
                <a:solidFill>
                  <a:srgbClr val="006642"/>
                </a:solidFill>
                <a:latin typeface="Georgia"/>
              </a:defRPr>
            </a:pPr>
            <a:r>
              <a:t>Case GTG-50014: ShinyHunters Pipeline</a:t>
            </a:r>
          </a:p>
          <a:p>
            <a:pPr>
              <a:spcBef>
                <a:spcPts val="1000"/>
              </a:spcBef>
              <a:defRPr sz="1300">
                <a:solidFill>
                  <a:srgbClr val="334155"/>
                </a:solidFill>
                <a:latin typeface="Arial"/>
              </a:defRPr>
            </a:pPr>
            <a:r>
              <a:t>• Distributed AI Mining: Threat actor deployed 10 Amazon EC2 worker nodes running automated decompilation scripts.</a:t>
            </a:r>
            <a:br/>
            <a:r>
              <a:t>• 1.8M Mobile APKs Decompiled: Scanned millions of Android app binaries to extract hardcoded API keys and AWS/Azure secrets.</a:t>
            </a:r>
            <a:br/>
            <a:r>
              <a:t>• SaaS Supply Chain Dump: Exfiltrated 2,100 Azure Active Directory (AD) tokens across 40 corporate tenants in 34 hours.</a:t>
            </a:r>
            <a:br/>
            <a:r>
              <a:t>• Machine-Speed Exfiltration: Cloud environments compromised before security teams completed initial triage.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737360"/>
            <a:ext cx="5257800" cy="50800"/>
          </a:xfrm>
          <a:prstGeom prst="rect">
            <a:avLst/>
          </a:prstGeom>
          <a:solidFill>
            <a:srgbClr val="006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199632" y="1737360"/>
            <a:ext cx="525780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defRPr sz="1700" b="1">
                <a:solidFill>
                  <a:srgbClr val="006642"/>
                </a:solidFill>
                <a:latin typeface="Georgia"/>
              </a:defRPr>
            </a:pPr>
            <a:r>
              <a:t>AI API Key Theft &amp; Reseller Fraud</a:t>
            </a:r>
          </a:p>
          <a:p>
            <a:pPr>
              <a:spcBef>
                <a:spcPts val="1000"/>
              </a:spcBef>
              <a:defRPr sz="1300">
                <a:solidFill>
                  <a:srgbClr val="334155"/>
                </a:solidFill>
                <a:latin typeface="Arial"/>
              </a:defRPr>
            </a:pPr>
            <a:r>
              <a:t>• AI API Keys as Primary Loot: Stolen OpenAI and Anthropic API keys are sold on dark web marketplaces to fuel uncensored LLM wrappers.</a:t>
            </a:r>
            <a:br/>
            <a:r>
              <a:t>• Case GTG-50020 (Prompt Injection): Attackers injected prompts into automated AI evaluation sandboxes to leak system environment variables.</a:t>
            </a:r>
            <a:br/>
            <a:r>
              <a:t>• Case GTG-50021 (Fake AI Resellers): Fraudulent platforms sell access to stolen corporate LLM quotas at 80% discounts.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199632" y="1737360"/>
            <a:ext cx="5257800" cy="50800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E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7280" y="2011680"/>
            <a:ext cx="1828800" cy="50800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2860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A86B"/>
                </a:solidFill>
                <a:latin typeface="Arial"/>
              </a:defRPr>
            </a:pPr>
            <a:r>
              <a:t>ATTACK FAMILY D</a:t>
            </a:r>
          </a:p>
          <a:p>
            <a:pPr>
              <a:spcBef>
                <a:spcPts val="1000"/>
              </a:spcBef>
              <a:defRPr sz="3600" b="1">
                <a:solidFill>
                  <a:srgbClr val="FFFFFF"/>
                </a:solidFill>
                <a:latin typeface="Georgia"/>
              </a:defRPr>
            </a:pPr>
            <a:r>
              <a:t>Infiltrated Insiders &amp; Information Warfare</a:t>
            </a:r>
          </a:p>
          <a:p>
            <a:pPr>
              <a:spcBef>
                <a:spcPts val="1600"/>
              </a:spcBef>
              <a:defRPr sz="1800">
                <a:solidFill>
                  <a:srgbClr val="94A3B8"/>
                </a:solidFill>
                <a:latin typeface="Arial"/>
              </a:defRPr>
            </a:pPr>
            <a:r>
              <a:t>Focus: Deepfake Candidate HR Hiring Fraud, Remote IT Worker Infiltration (DPRK), and Automated Breach Search Engines.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6642"/>
                </a:solidFill>
                <a:latin typeface="Arial"/>
              </a:defRPr>
            </a:pPr>
            <a:r>
              <a:t>ATTACK FAMILY D | INSIDER INFILTRATION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Georgia"/>
              </a:defRPr>
            </a:pPr>
            <a:r>
              <a:t>Synthetic Personas Infiltrate Western Corporate IT via Deepfake Interviews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08760"/>
            <a:ext cx="10728655" cy="25400"/>
          </a:xfrm>
          <a:prstGeom prst="rect">
            <a:avLst/>
          </a:prstGeom>
          <a:solidFill>
            <a:srgbClr val="006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257800" cy="4572000"/>
          </a:xfrm>
          <a:prstGeom prst="roundRect">
            <a:avLst/>
          </a:prstGeom>
          <a:solidFill>
            <a:srgbClr val="F4F8F6"/>
          </a:solidFill>
          <a:ln w="12700">
            <a:solidFill>
              <a:srgbClr val="D0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defRPr sz="1700" b="1">
                <a:solidFill>
                  <a:srgbClr val="006642"/>
                </a:solidFill>
                <a:latin typeface="Georgia"/>
              </a:defRPr>
            </a:pPr>
            <a:r>
              <a:t>North Korean (DPRK) IT Worker Scheme</a:t>
            </a:r>
          </a:p>
          <a:p>
            <a:pPr>
              <a:spcBef>
                <a:spcPts val="1000"/>
              </a:spcBef>
              <a:defRPr sz="1300">
                <a:solidFill>
                  <a:srgbClr val="334155"/>
                </a:solidFill>
                <a:latin typeface="Arial"/>
              </a:defRPr>
            </a:pPr>
            <a:r>
              <a:t>• Deepfake Video Interviews: Operatives use real-time face-swapping software during Zoom hiring interviews to impersonate US citizens.</a:t>
            </a:r>
            <a:br/>
            <a:r>
              <a:t>• 136+ US Firms Infiltrated: Operatives secured remote software engineering roles at Fortune 500 companies.</a:t>
            </a:r>
            <a:br/>
            <a:r>
              <a:t>• Laptop Farms: Laptops are shipped to US 'laptop farms' to maintain US IP address origins while operatives work from overseas.</a:t>
            </a:r>
            <a:br/>
            <a:r>
              <a:t>• Double Threat: Wages are funneled to weapons programs, while operatives exfiltrate proprietary source code.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737360"/>
            <a:ext cx="5257800" cy="50800"/>
          </a:xfrm>
          <a:prstGeom prst="rect">
            <a:avLst/>
          </a:prstGeom>
          <a:solidFill>
            <a:srgbClr val="006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199632" y="1737360"/>
            <a:ext cx="525780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defRPr sz="1700" b="1">
                <a:solidFill>
                  <a:srgbClr val="006642"/>
                </a:solidFill>
                <a:latin typeface="Georgia"/>
              </a:defRPr>
            </a:pPr>
            <a:r>
              <a:t>Scale &amp; HR Mitigation</a:t>
            </a:r>
          </a:p>
          <a:p>
            <a:pPr>
              <a:spcBef>
                <a:spcPts val="1000"/>
              </a:spcBef>
              <a:defRPr sz="1300">
                <a:solidFill>
                  <a:srgbClr val="334155"/>
                </a:solidFill>
                <a:latin typeface="Arial"/>
              </a:defRPr>
            </a:pPr>
            <a:r>
              <a:t>• Amazon Case Study: Blocked 1,800+ fraudulent applicants attempting to use synthetic identity credentials during remote hiring.</a:t>
            </a:r>
            <a:br/>
            <a:r>
              <a:t>• HR Hiring Surge: +1,300% increase in deepfake application attempts across remote IT engineering roles.</a:t>
            </a:r>
            <a:br/>
            <a:r>
              <a:t>• Mandatory HR Controls:</a:t>
            </a:r>
            <a:br/>
            <a:r>
              <a:t>  1. In-person I-9 identity verification or notary checks.</a:t>
            </a:r>
            <a:br/>
            <a:r>
              <a:t>  2. Hardware-bound security key issuance.</a:t>
            </a:r>
            <a:br/>
            <a:r>
              <a:t>  3. Behavioral biometrics monitoring during developer onboarding.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6199632" y="1737360"/>
            <a:ext cx="5257800" cy="50800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6642"/>
                </a:solidFill>
                <a:latin typeface="Arial"/>
              </a:defRPr>
            </a:pPr>
            <a:r>
              <a:t>ATTACK FAMILY D | INFORMATION WARFARE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Georgia"/>
              </a:defRPr>
            </a:pPr>
            <a:r>
              <a:t>Coordinated Inauthentic Networks Deploy Purpose-Built Doxxing Engines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08760"/>
            <a:ext cx="10728655" cy="25400"/>
          </a:xfrm>
          <a:prstGeom prst="rect">
            <a:avLst/>
          </a:prstGeom>
          <a:solidFill>
            <a:srgbClr val="006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257800" cy="2194560"/>
          </a:xfrm>
          <a:prstGeom prst="roundRect">
            <a:avLst/>
          </a:prstGeom>
          <a:solidFill>
            <a:srgbClr val="F4F8F6"/>
          </a:solidFill>
          <a:ln w="12700">
            <a:solidFill>
              <a:srgbClr val="D0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/>
          <a:lstStyle/>
          <a:p>
            <a:pPr algn="ctr">
              <a:defRPr sz="1600" b="1">
                <a:solidFill>
                  <a:srgbClr val="006642"/>
                </a:solidFill>
                <a:latin typeface="Georgia"/>
              </a:defRPr>
            </a:pPr>
            <a:r>
              <a:t>Automated Doxxing ('fafsearch')</a:t>
            </a:r>
          </a:p>
          <a:p>
            <a:pPr>
              <a:spcBef>
                <a:spcPts val="800"/>
              </a:spcBef>
              <a:defRPr sz="1200">
                <a:solidFill>
                  <a:srgbClr val="334155"/>
                </a:solidFill>
                <a:latin typeface="Arial"/>
              </a:defRPr>
            </a:pPr>
            <a:r>
              <a:t>Containerized search platform fusing leaked breach dumps with national identity numbers for rapid target reconnaissance.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737360"/>
            <a:ext cx="5257800" cy="50800"/>
          </a:xfrm>
          <a:prstGeom prst="rect">
            <a:avLst/>
          </a:prstGeom>
          <a:solidFill>
            <a:srgbClr val="006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199632" y="1737360"/>
            <a:ext cx="5257800" cy="2194560"/>
          </a:xfrm>
          <a:prstGeom prst="roundRect">
            <a:avLst/>
          </a:prstGeom>
          <a:solidFill>
            <a:srgbClr val="F4F8F6"/>
          </a:solidFill>
          <a:ln w="12700">
            <a:solidFill>
              <a:srgbClr val="D0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/>
          <a:lstStyle/>
          <a:p>
            <a:pPr algn="ctr">
              <a:defRPr sz="1600" b="1">
                <a:solidFill>
                  <a:srgbClr val="006642"/>
                </a:solidFill>
                <a:latin typeface="Georgia"/>
              </a:defRPr>
            </a:pPr>
            <a:r>
              <a:t>70+ Fake News Portals</a:t>
            </a:r>
          </a:p>
          <a:p>
            <a:pPr>
              <a:spcBef>
                <a:spcPts val="800"/>
              </a:spcBef>
              <a:defRPr sz="1200">
                <a:solidFill>
                  <a:srgbClr val="334155"/>
                </a:solidFill>
                <a:latin typeface="Arial"/>
              </a:defRPr>
            </a:pPr>
            <a:r>
              <a:t>Network of automated news sites publishing localized, AI-rewritten narratives in parallel to manipulate financial markets.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199632" y="1737360"/>
            <a:ext cx="5257800" cy="50800"/>
          </a:xfrm>
          <a:prstGeom prst="rect">
            <a:avLst/>
          </a:prstGeom>
          <a:solidFill>
            <a:srgbClr val="006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4114800"/>
            <a:ext cx="5257800" cy="2194560"/>
          </a:xfrm>
          <a:prstGeom prst="roundRect">
            <a:avLst/>
          </a:prstGeom>
          <a:solidFill>
            <a:srgbClr val="F4F8F6"/>
          </a:solidFill>
          <a:ln w="12700">
            <a:solidFill>
              <a:srgbClr val="D0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/>
          <a:lstStyle/>
          <a:p>
            <a:pPr algn="ctr">
              <a:defRPr sz="1600" b="1">
                <a:solidFill>
                  <a:srgbClr val="006642"/>
                </a:solidFill>
                <a:latin typeface="Georgia"/>
              </a:defRPr>
            </a:pPr>
            <a:r>
              <a:t>Iranian 'Arman' Case System</a:t>
            </a:r>
          </a:p>
          <a:p>
            <a:pPr>
              <a:spcBef>
                <a:spcPts val="800"/>
              </a:spcBef>
              <a:defRPr sz="1200">
                <a:solidFill>
                  <a:srgbClr val="334155"/>
                </a:solidFill>
                <a:latin typeface="Arial"/>
              </a:defRPr>
            </a:pPr>
            <a:r>
              <a:t>State surveillance system fed by malicious browser extensions exfiltrating user credentials and financial records.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4114800"/>
            <a:ext cx="5257800" cy="50800"/>
          </a:xfrm>
          <a:prstGeom prst="rect">
            <a:avLst/>
          </a:prstGeom>
          <a:solidFill>
            <a:srgbClr val="006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199632" y="4114800"/>
            <a:ext cx="5257800" cy="2194560"/>
          </a:xfrm>
          <a:prstGeom prst="roundRect">
            <a:avLst/>
          </a:prstGeom>
          <a:solidFill>
            <a:srgbClr val="F4F8F6"/>
          </a:solidFill>
          <a:ln w="12700">
            <a:solidFill>
              <a:srgbClr val="D0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/>
          <a:lstStyle/>
          <a:p>
            <a:pPr algn="ctr">
              <a:defRPr sz="1600" b="1">
                <a:solidFill>
                  <a:srgbClr val="006642"/>
                </a:solidFill>
                <a:latin typeface="Georgia"/>
              </a:defRPr>
            </a:pPr>
            <a:r>
              <a:t>PRC Opinion Monitoring (v2.6)</a:t>
            </a:r>
          </a:p>
          <a:p>
            <a:pPr>
              <a:spcBef>
                <a:spcPts val="800"/>
              </a:spcBef>
              <a:defRPr sz="1200">
                <a:solidFill>
                  <a:srgbClr val="334155"/>
                </a:solidFill>
                <a:latin typeface="Arial"/>
              </a:defRPr>
            </a:pPr>
            <a:r>
              <a:t>Automated pipelines processing 30+ foreign news items daily under 'three warfares' doctrine to shape public sentiment.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99632" y="4114800"/>
            <a:ext cx="5257800" cy="50800"/>
          </a:xfrm>
          <a:prstGeom prst="rect">
            <a:avLst/>
          </a:prstGeom>
          <a:solidFill>
            <a:srgbClr val="006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6642"/>
                </a:solidFill>
                <a:latin typeface="Arial"/>
              </a:defRPr>
            </a:pPr>
            <a:r>
              <a:t>GOVERNANCE &amp; COMPLIANCE | LIABILITY SHIFTS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Georgia"/>
              </a:defRPr>
            </a:pPr>
            <a:r>
              <a:t>UK PSR Mandates 50/50 Liability Split for Authorised Push Payment (APP) Scams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08760"/>
            <a:ext cx="10728655" cy="25400"/>
          </a:xfrm>
          <a:prstGeom prst="rect">
            <a:avLst/>
          </a:prstGeom>
          <a:solidFill>
            <a:srgbClr val="006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257800" cy="4572000"/>
          </a:xfrm>
          <a:prstGeom prst="roundRect">
            <a:avLst/>
          </a:prstGeom>
          <a:solidFill>
            <a:srgbClr val="F4F8F6"/>
          </a:solidFill>
          <a:ln w="12700">
            <a:solidFill>
              <a:srgbClr val="D0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defRPr sz="1700" b="1">
                <a:solidFill>
                  <a:srgbClr val="006642"/>
                </a:solidFill>
                <a:latin typeface="Georgia"/>
              </a:defRPr>
            </a:pPr>
            <a:r>
              <a:t>UK Payment Systems Regulator (PSR)</a:t>
            </a:r>
          </a:p>
          <a:p>
            <a:pPr>
              <a:spcBef>
                <a:spcPts val="1000"/>
              </a:spcBef>
              <a:defRPr sz="1300">
                <a:solidFill>
                  <a:srgbClr val="334155"/>
                </a:solidFill>
                <a:latin typeface="Arial"/>
              </a:defRPr>
            </a:pPr>
            <a:r>
              <a:t>• Mandatory Reimbursement Rule: Banks must reimburse victims of Authorised Push Payment (APP) scams within 5 business days.</a:t>
            </a:r>
            <a:br/>
            <a:r>
              <a:t>• £85,000 Maximum Cap: Mandatory cover for consumer scam losses up to £85,000 per incident.</a:t>
            </a:r>
            <a:br/>
            <a:r>
              <a:t>• 50/50 Liability Split: Financial loss is split equally (50% sending bank, 50% receiving bank) to incentivize receiving banks to block synthetic mule accounts.</a:t>
            </a:r>
            <a:br/>
            <a:r>
              <a:t>• Paradigm Shift: Moves risk from consumer to financial infrastructure.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737360"/>
            <a:ext cx="5257800" cy="50800"/>
          </a:xfrm>
          <a:prstGeom prst="rect">
            <a:avLst/>
          </a:prstGeom>
          <a:solidFill>
            <a:srgbClr val="006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199632" y="1737360"/>
            <a:ext cx="525780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defRPr sz="1700" b="1">
                <a:solidFill>
                  <a:srgbClr val="006642"/>
                </a:solidFill>
                <a:latin typeface="Georgia"/>
              </a:defRPr>
            </a:pPr>
            <a:r>
              <a:t>EU AI Act &amp; US Regulatory Directives</a:t>
            </a:r>
          </a:p>
          <a:p>
            <a:pPr>
              <a:spcBef>
                <a:spcPts val="1000"/>
              </a:spcBef>
              <a:defRPr sz="1300">
                <a:solidFill>
                  <a:srgbClr val="334155"/>
                </a:solidFill>
                <a:latin typeface="Arial"/>
              </a:defRPr>
            </a:pPr>
            <a:r>
              <a:t>• EU AI Act Article 50 (August 2026 Mandate):</a:t>
            </a:r>
            <a:br/>
            <a:r>
              <a:t>  - Machine-readable watermarking required for all synthetic media generated or published in the EU.</a:t>
            </a:r>
            <a:br/>
            <a:r>
              <a:t>  - AI detection obligations for commercial platforms.</a:t>
            </a:r>
            <a:br/>
            <a:r>
              <a:t>• US Financial Crimes Enforcement Network (FinCEN):</a:t>
            </a:r>
            <a:br/>
            <a:r>
              <a:t>  - Issues specific Suspicious Activity Report (SAR) filing guidance for deepfake &amp; generative AI financial fraud.</a:t>
            </a:r>
            <a:br/>
            <a:r>
              <a:t>  - Mandates convergence of Cyber, Fraud, and AML teams.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199632" y="1737360"/>
            <a:ext cx="5257800" cy="50800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6642"/>
                </a:solidFill>
                <a:latin typeface="Arial"/>
              </a:defRPr>
            </a:pPr>
            <a:r>
              <a:t>STRATEGIC DEFENSE | 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Georgia"/>
              </a:defRPr>
            </a:pPr>
            <a:r>
              <a:t>Transitioning from Obsolete 'Glitch Spotting' to Hardware Attestation &amp; Cyber-Fraud Convergence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08760"/>
            <a:ext cx="10728655" cy="25400"/>
          </a:xfrm>
          <a:prstGeom prst="rect">
            <a:avLst/>
          </a:prstGeom>
          <a:solidFill>
            <a:srgbClr val="006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2560320" cy="4572000"/>
          </a:xfrm>
          <a:prstGeom prst="roundRect">
            <a:avLst/>
          </a:prstGeom>
          <a:solidFill>
            <a:srgbClr val="F4F8F6"/>
          </a:solidFill>
          <a:ln w="12700">
            <a:solidFill>
              <a:srgbClr val="D0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400" b="1">
                <a:solidFill>
                  <a:srgbClr val="006642"/>
                </a:solidFill>
                <a:latin typeface="Georgia"/>
              </a:defRPr>
            </a:pPr>
            <a:r>
              <a:t>Procedural Friction</a:t>
            </a:r>
          </a:p>
          <a:p>
            <a:pPr>
              <a:spcBef>
                <a:spcPts val="400"/>
              </a:spcBef>
              <a:defRPr sz="1100" b="1">
                <a:solidFill>
                  <a:srgbClr val="0F172A"/>
                </a:solidFill>
                <a:latin typeface="Arial"/>
              </a:defRPr>
            </a:pPr>
            <a:r>
              <a:t>Out-of-Band Callbacks</a:t>
            </a:r>
          </a:p>
          <a:p>
            <a:pPr>
              <a:spcBef>
                <a:spcPts val="800"/>
              </a:spcBef>
              <a:defRPr sz="1100">
                <a:solidFill>
                  <a:srgbClr val="334155"/>
                </a:solidFill>
                <a:latin typeface="Arial"/>
              </a:defRPr>
            </a:pPr>
            <a:r>
              <a:t>• Abandon implicit visual/auditory trust</a:t>
            </a:r>
            <a:br/>
            <a:r>
              <a:t>• Enforce cryptographic out-of-band passcodes for wire changes &gt; $50k</a:t>
            </a:r>
            <a:br/>
            <a:r>
              <a:t>• Mandatory dual-authorization for executive transactions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737360"/>
            <a:ext cx="2560320" cy="50800"/>
          </a:xfrm>
          <a:prstGeom prst="rect">
            <a:avLst/>
          </a:prstGeom>
          <a:solidFill>
            <a:srgbClr val="006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456432" y="1737360"/>
            <a:ext cx="2560320" cy="4572000"/>
          </a:xfrm>
          <a:prstGeom prst="roundRect">
            <a:avLst/>
          </a:prstGeom>
          <a:solidFill>
            <a:srgbClr val="F4F8F6"/>
          </a:solidFill>
          <a:ln w="12700">
            <a:solidFill>
              <a:srgbClr val="D0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400" b="1">
                <a:solidFill>
                  <a:srgbClr val="006642"/>
                </a:solidFill>
                <a:latin typeface="Georgia"/>
              </a:defRPr>
            </a:pPr>
            <a:r>
              <a:t>Hardware Attestation</a:t>
            </a:r>
          </a:p>
          <a:p>
            <a:pPr>
              <a:spcBef>
                <a:spcPts val="400"/>
              </a:spcBef>
              <a:defRPr sz="1100" b="1">
                <a:solidFill>
                  <a:srgbClr val="0F172A"/>
                </a:solidFill>
                <a:latin typeface="Arial"/>
              </a:defRPr>
            </a:pPr>
            <a:r>
              <a:t>CEN 18099 Biometrics</a:t>
            </a:r>
          </a:p>
          <a:p>
            <a:pPr>
              <a:spcBef>
                <a:spcPts val="800"/>
              </a:spcBef>
              <a:defRPr sz="1100">
                <a:solidFill>
                  <a:srgbClr val="334155"/>
                </a:solidFill>
                <a:latin typeface="Arial"/>
              </a:defRPr>
            </a:pPr>
            <a:r>
              <a:t>• Cryptographic sensor signing to block virtual camera injection (IAD)</a:t>
            </a:r>
            <a:br/>
            <a:r>
              <a:t>• Require FIDO2 / WebAuthn hardware keys for remote employee access</a:t>
            </a:r>
          </a:p>
        </p:txBody>
      </p:sp>
      <p:sp>
        <p:nvSpPr>
          <p:cNvPr id="8" name="Rectangle 7"/>
          <p:cNvSpPr/>
          <p:nvPr/>
        </p:nvSpPr>
        <p:spPr>
          <a:xfrm>
            <a:off x="3456432" y="1737360"/>
            <a:ext cx="2560320" cy="50800"/>
          </a:xfrm>
          <a:prstGeom prst="rect">
            <a:avLst/>
          </a:prstGeom>
          <a:solidFill>
            <a:srgbClr val="006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81344" y="1737360"/>
            <a:ext cx="2560320" cy="4572000"/>
          </a:xfrm>
          <a:prstGeom prst="roundRect">
            <a:avLst/>
          </a:prstGeom>
          <a:solidFill>
            <a:srgbClr val="F4F8F6"/>
          </a:solidFill>
          <a:ln w="12700">
            <a:solidFill>
              <a:srgbClr val="D0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400" b="1">
                <a:solidFill>
                  <a:srgbClr val="006642"/>
                </a:solidFill>
                <a:latin typeface="Georgia"/>
              </a:defRPr>
            </a:pPr>
            <a:r>
              <a:t>Cyber-Fraud Fusion</a:t>
            </a:r>
          </a:p>
          <a:p>
            <a:pPr>
              <a:spcBef>
                <a:spcPts val="400"/>
              </a:spcBef>
              <a:defRPr sz="1100" b="1">
                <a:solidFill>
                  <a:srgbClr val="0F172A"/>
                </a:solidFill>
                <a:latin typeface="Arial"/>
              </a:defRPr>
            </a:pPr>
            <a:r>
              <a:t>Unified Data Lakes</a:t>
            </a:r>
          </a:p>
          <a:p>
            <a:pPr>
              <a:spcBef>
                <a:spcPts val="800"/>
              </a:spcBef>
              <a:defRPr sz="1100">
                <a:solidFill>
                  <a:srgbClr val="334155"/>
                </a:solidFill>
                <a:latin typeface="Arial"/>
              </a:defRPr>
            </a:pPr>
            <a:r>
              <a:t>• Break down silos between CISO cyber telemetry and AML fraud teams</a:t>
            </a:r>
            <a:br/>
            <a:r>
              <a:t>• Combine IP address session logs with wire transaction monitoring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81344" y="1737360"/>
            <a:ext cx="2560320" cy="50800"/>
          </a:xfrm>
          <a:prstGeom prst="rect">
            <a:avLst/>
          </a:prstGeom>
          <a:solidFill>
            <a:srgbClr val="006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906256" y="1737360"/>
            <a:ext cx="2560320" cy="4572000"/>
          </a:xfrm>
          <a:prstGeom prst="roundRect">
            <a:avLst/>
          </a:prstGeom>
          <a:solidFill>
            <a:srgbClr val="F4F8F6"/>
          </a:solidFill>
          <a:ln w="12700">
            <a:solidFill>
              <a:srgbClr val="D0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400" b="1">
                <a:solidFill>
                  <a:srgbClr val="006642"/>
                </a:solidFill>
                <a:latin typeface="Georgia"/>
              </a:defRPr>
            </a:pPr>
            <a:r>
              <a:t>Defensive Agentic AI</a:t>
            </a:r>
          </a:p>
          <a:p>
            <a:pPr>
              <a:spcBef>
                <a:spcPts val="400"/>
              </a:spcBef>
              <a:defRPr sz="1100" b="1">
                <a:solidFill>
                  <a:srgbClr val="0F172A"/>
                </a:solidFill>
                <a:latin typeface="Arial"/>
              </a:defRPr>
            </a:pPr>
            <a:r>
              <a:t>Real-Time Triage</a:t>
            </a:r>
          </a:p>
          <a:p>
            <a:pPr>
              <a:spcBef>
                <a:spcPts val="800"/>
              </a:spcBef>
              <a:defRPr sz="1100">
                <a:solidFill>
                  <a:srgbClr val="334155"/>
                </a:solidFill>
                <a:latin typeface="Arial"/>
              </a:defRPr>
            </a:pPr>
            <a:r>
              <a:t>• Deploy AI defense agents (e.g., Nasdaq Verafin) to analyze 100% of wire transfers in real time</a:t>
            </a:r>
            <a:br/>
            <a:r>
              <a:t>• Machine-speed fraud triage to match attacker velocity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906256" y="1737360"/>
            <a:ext cx="2560320" cy="50800"/>
          </a:xfrm>
          <a:prstGeom prst="rect">
            <a:avLst/>
          </a:prstGeom>
          <a:solidFill>
            <a:srgbClr val="006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