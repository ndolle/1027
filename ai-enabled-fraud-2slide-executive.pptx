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6B"/>
                </a:solidFill>
                <a:latin typeface="Arial"/>
              </a:defRPr>
            </a:pPr>
            <a:r>
              <a:t>SLIDE 1 // EXECUTIVE THREAT OVERVIEW &amp; MASTER ATTACK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6642"/>
                </a:solidFill>
                <a:latin typeface="Georgia"/>
              </a:defRPr>
            </a:pPr>
            <a:r>
              <a:t>AI Has Industrialized Financial Crime Across Four Distinct Vectors, Driving $6.3B in Direct Losses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11296" cy="9144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2000" b="1">
                <a:solidFill>
                  <a:srgbClr val="006642"/>
                </a:solidFill>
                <a:latin typeface="Georgia"/>
              </a:defRPr>
            </a:pPr>
            <a:r>
              <a:t>$6.3 Billion</a:t>
            </a:r>
          </a:p>
          <a:p>
            <a:pPr>
              <a:defRPr sz="1000">
                <a:solidFill>
                  <a:srgbClr val="0B1E2D"/>
                </a:solidFill>
                <a:latin typeface="Arial"/>
              </a:defRPr>
            </a:pPr>
            <a:r>
              <a:t>FBI IC3 Direct Losses — Isolated AI fraud losses ($20.8B total online cybercrime toll)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4256" y="1508760"/>
            <a:ext cx="3511296" cy="9144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2000" b="1">
                <a:solidFill>
                  <a:srgbClr val="006642"/>
                </a:solidFill>
                <a:latin typeface="Georgia"/>
              </a:defRPr>
            </a:pPr>
            <a:r>
              <a:t>$25.6 Million</a:t>
            </a:r>
          </a:p>
          <a:p>
            <a:pPr>
              <a:defRPr sz="1000">
                <a:solidFill>
                  <a:srgbClr val="0B1E2D"/>
                </a:solidFill>
                <a:latin typeface="Arial"/>
              </a:defRPr>
            </a:pPr>
            <a:r>
              <a:t>Single Incident Peak — Arup deepfake CFO video call authorization 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08760"/>
            <a:ext cx="3511296" cy="91440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2000" b="1">
                <a:solidFill>
                  <a:srgbClr val="006642"/>
                </a:solidFill>
                <a:latin typeface="Georgia"/>
              </a:defRPr>
            </a:pPr>
            <a:r>
              <a:t>+2,137%</a:t>
            </a:r>
          </a:p>
          <a:p>
            <a:pPr>
              <a:defRPr sz="1000">
                <a:solidFill>
                  <a:srgbClr val="0B1E2D"/>
                </a:solidFill>
                <a:latin typeface="Arial"/>
              </a:defRPr>
            </a:pPr>
            <a:r>
              <a:t>Deepfake Attack Surge — Synthetic identity creation cost collapsed to &lt;$15 per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5394960" cy="192024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5394960" cy="34747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FAMILY A: Synthetic Media &amp; Identity Spoofing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07792"/>
            <a:ext cx="5394960" cy="1572768"/>
          </a:xfrm>
          <a:prstGeom prst="rect">
            <a:avLst/>
          </a:prstGeom>
          <a:noFill/>
        </p:spPr>
        <p:txBody>
          <a:bodyPr wrap="square" lIns="137160" rIns="137160" tIns="73152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Real-Time Video Face-Swaps: Real-time CFO deepfake video calls ($25.6M Arup case) and 3-second voice cloning.</a:t>
            </a:r>
          </a:p>
          <a:p>
            <a:pPr>
              <a:spcAft>
                <a:spcPts val="2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Virtual Camera Injection (OBS): Bypassing Know Your Customer (KYC) liveness checks via direct digital video streams.</a:t>
            </a:r>
          </a:p>
          <a:p>
            <a:pPr>
              <a:spcAft>
                <a:spcPts val="2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Synthetic Identity Fabrication: Frankenstein identity creation (&lt;$15) and 6–18 month credit score nurturing.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560320"/>
            <a:ext cx="5394960" cy="192024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2560320"/>
            <a:ext cx="5394960" cy="34747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FAMILY B: Automated Social Engineering &amp; Session Theft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907792"/>
            <a:ext cx="5394960" cy="1572768"/>
          </a:xfrm>
          <a:prstGeom prst="rect">
            <a:avLst/>
          </a:prstGeom>
          <a:noFill/>
        </p:spPr>
        <p:txBody>
          <a:bodyPr wrap="square" lIns="137160" rIns="137160" tIns="73152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Dark LLMs (WormGPT): Collapsing spear-phishing preparation time from 16 hours down to 5 minutes.</a:t>
            </a:r>
          </a:p>
          <a:p>
            <a:pPr>
              <a:spcAft>
                <a:spcPts val="2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Adversary-in-the-Middle (AiTM): Reverse proxies stealing live Multi-Factor Authentication (MFA) session tokens.</a:t>
            </a:r>
          </a:p>
          <a:p>
            <a:pPr>
              <a:spcAft>
                <a:spcPts val="2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Automated Pig Butchering: Autonomous 24/7 LLM rapport bots scaling investment fraud (4.5x profitability).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5394960" cy="192024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663440"/>
            <a:ext cx="5394960" cy="34747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FAMILY C: Autonomous AI Cyber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10912"/>
            <a:ext cx="5394960" cy="1572768"/>
          </a:xfrm>
          <a:prstGeom prst="rect">
            <a:avLst/>
          </a:prstGeom>
          <a:noFill/>
        </p:spPr>
        <p:txBody>
          <a:bodyPr wrap="square" lIns="137160" rIns="137160" tIns="73152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Self-Healing Malware: AI agents dynamically recompiling code to bypass Endpoint Detection &amp; Response (GTG-20006).</a:t>
            </a:r>
          </a:p>
          <a:p>
            <a:pPr>
              <a:spcAft>
                <a:spcPts val="2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Zero-Day Foundries: 24/7 AI firmware decompilation yielding ~12 zero-day vulnerabilities per month (GTG-10007).</a:t>
            </a:r>
          </a:p>
          <a:p>
            <a:pPr>
              <a:spcAft>
                <a:spcPts val="2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Cloud Credential Harvesting: Decompiling 1.8M mobile apps to exfiltrate 2,100 Azure AD tokens in 34 hrs (GTG-50014).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4663440"/>
            <a:ext cx="5394960" cy="1920240"/>
          </a:xfrm>
          <a:prstGeom prst="roundRect">
            <a:avLst/>
          </a:prstGeom>
          <a:solidFill>
            <a:srgbClr val="F4F8F6"/>
          </a:solidFill>
          <a:ln w="1270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4663440"/>
            <a:ext cx="5394960" cy="34747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FAMILY D: Infiltrated Insiders &amp; Information Warfare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5010912"/>
            <a:ext cx="5394960" cy="1572768"/>
          </a:xfrm>
          <a:prstGeom prst="rect">
            <a:avLst/>
          </a:prstGeom>
          <a:noFill/>
        </p:spPr>
        <p:txBody>
          <a:bodyPr wrap="square" lIns="137160" rIns="137160" tIns="73152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Deepfake Candidate Fraud: DPRK remote IT workers infiltrating 136+ Western corporate networks via AI interviews.</a:t>
            </a:r>
          </a:p>
          <a:p>
            <a:pPr>
              <a:spcAft>
                <a:spcPts val="2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Containerized Breach Engines: Tools ('fafsearch') fusing breach dumps with national identity numbers.</a:t>
            </a:r>
          </a:p>
          <a:p>
            <a:pPr>
              <a:spcAft>
                <a:spcPts val="2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Coordinated Disinformation: AI networks deploying 70+ automated news portals for targeted narrative shifts.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6B"/>
                </a:solidFill>
                <a:latin typeface="Arial"/>
              </a:defRPr>
            </a:pPr>
            <a:r>
              <a:t>SLIDE 2 // PARADIGM SHIFT, REGULATORY REALIGNMENT &amp; STRATEGIC DEFENSE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6642"/>
                </a:solidFill>
                <a:latin typeface="Georgia"/>
              </a:defRPr>
            </a:pPr>
            <a:r>
              <a:t>Surviving Weaponized Deception Requires Shifting from Visual Trust to Hardware Attestation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029200" cy="2377440"/>
          </a:xfrm>
          <a:prstGeom prst="roundRect">
            <a:avLst/>
          </a:prstGeom>
          <a:solidFill>
            <a:srgbClr val="F4F8F6"/>
          </a:solidFill>
          <a:ln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029200" cy="34747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THE PARADIGM SHIFT: VISUAL TRUST IS BROKEN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56232"/>
            <a:ext cx="5029200" cy="2011680"/>
          </a:xfrm>
          <a:prstGeom prst="rect">
            <a:avLst/>
          </a:prstGeom>
          <a:noFill/>
        </p:spPr>
        <p:txBody>
          <a:bodyPr wrap="square" lIns="137160" rIns="137160" tIns="73152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Human Deepfake Detection Degraded to 55%: Human ability to spot generative video/audio is now equivalent to a coin flip.</a:t>
            </a:r>
          </a:p>
          <a:p>
            <a:pPr>
              <a:spcAft>
                <a:spcPts val="4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Legacy 'Glitch Spotting' Obsolete: Looking for visual glitches, unnatural blinking, or audio lag fails against real-time 2026 models.</a:t>
            </a:r>
          </a:p>
          <a:p>
            <a:pPr>
              <a:spcAft>
                <a:spcPts val="4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Implicit Sensory Trust Must End: Audio and video streams can no longer serve as sole authorization signals for wire transfers.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5029200" cy="2286000"/>
          </a:xfrm>
          <a:prstGeom prst="roundRect">
            <a:avLst/>
          </a:prstGeom>
          <a:solidFill>
            <a:srgbClr val="F4F8F6"/>
          </a:solidFill>
          <a:ln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23360"/>
            <a:ext cx="5029200" cy="34747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REGULATORY REALIGNMENT &amp; LIABILITY SHIFTS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70832"/>
            <a:ext cx="5029200" cy="1920240"/>
          </a:xfrm>
          <a:prstGeom prst="rect">
            <a:avLst/>
          </a:prstGeom>
          <a:noFill/>
        </p:spPr>
        <p:txBody>
          <a:bodyPr wrap="square" lIns="137160" rIns="137160" tIns="73152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UK PSR Mandatory 50/50 Reimbursement: Enforces a binding 50/50 reimbursement split between sending &amp; receiving banks for Authorised Push Payment (APP) scams.</a:t>
            </a:r>
          </a:p>
          <a:p>
            <a:pPr>
              <a:spcAft>
                <a:spcPts val="4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EU AI Act Article 50 Enforcement: Enforces mandatory cryptographic watermarking and detection transparency for all generative AI outputs.</a:t>
            </a:r>
          </a:p>
          <a:p>
            <a:pPr>
              <a:spcAft>
                <a:spcPts val="400"/>
              </a:spcAft>
              <a:defRPr sz="950">
                <a:solidFill>
                  <a:srgbClr val="0B1E2D"/>
                </a:solidFill>
                <a:latin typeface="Arial"/>
              </a:defRPr>
            </a:pPr>
            <a:r>
              <a:t>• FinCEN Deepfake SAR Alerts: High-priority compliance reporting mandating financial institutions track synthetic session anomalies.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508760"/>
            <a:ext cx="5790895" cy="1097280"/>
          </a:xfrm>
          <a:prstGeom prst="roundRect">
            <a:avLst/>
          </a:prstGeom>
          <a:solidFill>
            <a:srgbClr val="F4F8F6"/>
          </a:solidFill>
          <a:ln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508760"/>
            <a:ext cx="5790895" cy="292608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PILLAR 1: Procedural Friction &amp; Out-of-Band Callbacks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01368"/>
            <a:ext cx="5790895" cy="804672"/>
          </a:xfrm>
          <a:prstGeom prst="rect">
            <a:avLst/>
          </a:prstGeom>
          <a:noFill/>
        </p:spPr>
        <p:txBody>
          <a:bodyPr wrap="square" lIns="137160" rIns="137160" tIns="54864">
            <a:spAutoFit/>
          </a:bodyPr>
          <a:lstStyle/>
          <a:p>
            <a:pPr>
              <a:defRPr sz="950">
                <a:solidFill>
                  <a:srgbClr val="0B1E2D"/>
                </a:solidFill>
                <a:latin typeface="Arial"/>
              </a:defRPr>
            </a:pPr>
            <a:r>
              <a:t>Enforce mandatory multi-person out-of-band secondary callbacks and out-of-band secret passcodes for all high-value transactions (&gt; $50,000).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743200"/>
            <a:ext cx="5790895" cy="1097280"/>
          </a:xfrm>
          <a:prstGeom prst="roundRect">
            <a:avLst/>
          </a:prstGeom>
          <a:solidFill>
            <a:srgbClr val="F4F8F6"/>
          </a:solidFill>
          <a:ln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2743200"/>
            <a:ext cx="5790895" cy="292608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PILLAR 2: Cryptographic Hardware Attestation (CEN 18099)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035808"/>
            <a:ext cx="5790895" cy="804672"/>
          </a:xfrm>
          <a:prstGeom prst="rect">
            <a:avLst/>
          </a:prstGeom>
          <a:noFill/>
        </p:spPr>
        <p:txBody>
          <a:bodyPr wrap="square" lIns="137160" rIns="137160" tIns="54864">
            <a:spAutoFit/>
          </a:bodyPr>
          <a:lstStyle/>
          <a:p>
            <a:pPr>
              <a:defRPr sz="950">
                <a:solidFill>
                  <a:srgbClr val="0B1E2D"/>
                </a:solidFill>
                <a:latin typeface="Arial"/>
              </a:defRPr>
            </a:pPr>
            <a:r>
              <a:t>Transition to hardware-backed biometric checks that enforce Injector Attack Detection (IAD) at the camera sensor layer, blocking virtual camera emulators.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3977640"/>
            <a:ext cx="5790895" cy="1097280"/>
          </a:xfrm>
          <a:prstGeom prst="roundRect">
            <a:avLst/>
          </a:prstGeom>
          <a:solidFill>
            <a:srgbClr val="F4F8F6"/>
          </a:solidFill>
          <a:ln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3977640"/>
            <a:ext cx="5790895" cy="292608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PILLAR 3: Cyber-Fraud Telemetry Convergence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270248"/>
            <a:ext cx="5790895" cy="804672"/>
          </a:xfrm>
          <a:prstGeom prst="rect">
            <a:avLst/>
          </a:prstGeom>
          <a:noFill/>
        </p:spPr>
        <p:txBody>
          <a:bodyPr wrap="square" lIns="137160" rIns="137160" tIns="54864">
            <a:spAutoFit/>
          </a:bodyPr>
          <a:lstStyle/>
          <a:p>
            <a:pPr>
              <a:defRPr sz="950">
                <a:solidFill>
                  <a:srgbClr val="0B1E2D"/>
                </a:solidFill>
                <a:latin typeface="Arial"/>
              </a:defRPr>
            </a:pPr>
            <a:r>
              <a:t>Break operational silos by integrating CISO security logs (IP reputation, device health, OAuth session integrity) directly into AML / Fraud monitoring data lakes.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5212080"/>
            <a:ext cx="5790895" cy="1097280"/>
          </a:xfrm>
          <a:prstGeom prst="roundRect">
            <a:avLst/>
          </a:prstGeom>
          <a:solidFill>
            <a:srgbClr val="F4F8F6"/>
          </a:solidFill>
          <a:ln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5212080"/>
            <a:ext cx="5790895" cy="292608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PILLAR 4: Defensive Agentic AI Triage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5504688"/>
            <a:ext cx="5790895" cy="804672"/>
          </a:xfrm>
          <a:prstGeom prst="rect">
            <a:avLst/>
          </a:prstGeom>
          <a:noFill/>
        </p:spPr>
        <p:txBody>
          <a:bodyPr wrap="square" lIns="137160" rIns="137160" tIns="54864">
            <a:spAutoFit/>
          </a:bodyPr>
          <a:lstStyle/>
          <a:p>
            <a:pPr>
              <a:defRPr sz="950">
                <a:solidFill>
                  <a:srgbClr val="0B1E2D"/>
                </a:solidFill>
                <a:latin typeface="Arial"/>
              </a:defRPr>
            </a:pPr>
            <a:r>
              <a:t>Deploy machine-speed AI fraud triage engines (e.g., Nasdaq Verafin) to match attacker automation, catching high-velocity synthetic transaction anomalies in real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