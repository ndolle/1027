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291840" cy="365760"/>
          </a:xfrm>
          <a:prstGeom prst="round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EXECUTIVE BRIEFING //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Weaponizing Deception: The Industrialization of AI-Enabled Fraud</a:t>
            </a:r>
          </a:p>
          <a:p>
            <a:pPr>
              <a:defRPr sz="1800">
                <a:solidFill>
                  <a:srgbClr val="00A86B"/>
                </a:solidFill>
                <a:latin typeface="Arial"/>
              </a:defRPr>
            </a:pPr>
            <a:r>
              <a:t>A Comprehensive Strategic Analysis of Threat Vectors, Economic Toll, and Next-Generation Defenses (2024–2027)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3328416" cy="2194560"/>
          </a:xfrm>
          <a:prstGeom prst="rect">
            <a:avLst/>
          </a:prstGeom>
          <a:solidFill>
            <a:srgbClr val="122C42"/>
          </a:solidFill>
          <a:ln w="1905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0A86B"/>
                </a:solidFill>
                <a:latin typeface="Arial"/>
              </a:defRPr>
            </a:pPr>
            <a:r>
              <a:t>1. Scale &amp; Automation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Collapse of Attack Costs</a:t>
            </a:r>
          </a:p>
          <a:p>
            <a:pPr>
              <a:defRPr sz="1100">
                <a:solidFill>
                  <a:srgbClr val="C8D6E5"/>
                </a:solidFill>
                <a:latin typeface="Arial"/>
              </a:defRPr>
            </a:pPr>
            <a:r>
              <a:t>Dark LLMs reduce spear-phishing prep from 16 hrs to 5 mins, quadrupling click-through rates to 54%.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25696" y="3931920"/>
            <a:ext cx="3328416" cy="2194560"/>
          </a:xfrm>
          <a:prstGeom prst="rect">
            <a:avLst/>
          </a:prstGeom>
          <a:solidFill>
            <a:srgbClr val="122C42"/>
          </a:solidFill>
          <a:ln w="1905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0A86B"/>
                </a:solidFill>
                <a:latin typeface="Arial"/>
              </a:defRPr>
            </a:pPr>
            <a:r>
              <a:t>2. Identity Mechanics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Bypassing Sensory Verification</a:t>
            </a:r>
          </a:p>
          <a:p>
            <a:pPr>
              <a:defRPr sz="1100">
                <a:solidFill>
                  <a:srgbClr val="C8D6E5"/>
                </a:solidFill>
                <a:latin typeface="Arial"/>
              </a:defRPr>
            </a:pPr>
            <a:r>
              <a:t>3-second voice cloning and live injection attacks render traditional video/audio KYC and MFA obsolete.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19872" y="3931920"/>
            <a:ext cx="3328416" cy="2194560"/>
          </a:xfrm>
          <a:prstGeom prst="rect">
            <a:avLst/>
          </a:prstGeom>
          <a:solidFill>
            <a:srgbClr val="122C42"/>
          </a:solidFill>
          <a:ln w="1905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500" b="1">
                <a:solidFill>
                  <a:srgbClr val="00A86B"/>
                </a:solidFill>
                <a:latin typeface="Arial"/>
              </a:defRPr>
            </a:pPr>
            <a:r>
              <a:t>3. Strategic Defense</a:t>
            </a:r>
          </a:p>
          <a:p>
            <a:pPr>
              <a:spcAft>
                <a:spcPts val="8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Zero-Trust &amp; Liability Shifts</a:t>
            </a:r>
          </a:p>
          <a:p>
            <a:pPr>
              <a:defRPr sz="1100">
                <a:solidFill>
                  <a:srgbClr val="C8D6E5"/>
                </a:solidFill>
                <a:latin typeface="Arial"/>
              </a:defRPr>
            </a:pPr>
            <a:r>
              <a:t>UK PSR 50/50 liability split and CEN 18099 standards force hardware attestation and cyber-fraud fusion.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A0AEC0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A0AEC0"/>
                </a:solidFill>
                <a:latin typeface="Arial"/>
              </a:defRPr>
            </a:pPr>
            <a:r>
              <a:t>Page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MACRO METRICS // ECONOMIC TOLL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AI-Driven Fraud Caused $6.3B in FBI-Reported Losses as Total Online Crime Hit $148.2B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58775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$6.3B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A202C"/>
                </a:solidFill>
                <a:latin typeface="Arial"/>
              </a:defRPr>
            </a:pPr>
            <a:r>
              <a:t>FBI Isolated AI Losses</a:t>
            </a:r>
          </a:p>
          <a:p>
            <a:pPr algn="ctr">
              <a:defRPr sz="1000">
                <a:solidFill>
                  <a:srgbClr val="5A6B7C"/>
                </a:solidFill>
                <a:latin typeface="Arial"/>
              </a:defRPr>
            </a:pPr>
            <a:r>
              <a:t>Attributed directly to AI-driven scams in 2025 IC3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74136" y="1554480"/>
            <a:ext cx="258775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54%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A202C"/>
                </a:solidFill>
                <a:latin typeface="Arial"/>
              </a:defRPr>
            </a:pPr>
            <a:r>
              <a:t>Phishing Click Rate</a:t>
            </a:r>
          </a:p>
          <a:p>
            <a:pPr algn="ctr">
              <a:defRPr sz="1000">
                <a:solidFill>
                  <a:srgbClr val="5A6B7C"/>
                </a:solidFill>
                <a:latin typeface="Arial"/>
              </a:defRPr>
            </a:pPr>
            <a:r>
              <a:t>4.5x surge over traditional 12% human-crafted baseline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4136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554480"/>
            <a:ext cx="258775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2,137%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A202C"/>
                </a:solidFill>
                <a:latin typeface="Arial"/>
              </a:defRPr>
            </a:pPr>
            <a:r>
              <a:t>Deepfake Fraud Surge</a:t>
            </a:r>
          </a:p>
          <a:p>
            <a:pPr algn="ctr">
              <a:defRPr sz="1000">
                <a:solidFill>
                  <a:srgbClr val="5A6B7C"/>
                </a:solidFill>
                <a:latin typeface="Arial"/>
              </a:defRPr>
            </a:pPr>
            <a:r>
              <a:t>Growth in global deepfake fraud incidents (2022–2025)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25128" y="1554480"/>
            <a:ext cx="2587752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006642"/>
                </a:solidFill>
                <a:latin typeface="Georgia"/>
              </a:defRPr>
            </a:pPr>
            <a:r>
              <a:t>&lt; $15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A202C"/>
                </a:solidFill>
                <a:latin typeface="Arial"/>
              </a:defRPr>
            </a:pPr>
            <a:r>
              <a:t>Synthetic ID Package</a:t>
            </a:r>
          </a:p>
          <a:p>
            <a:pPr algn="ctr">
              <a:defRPr sz="1000">
                <a:solidFill>
                  <a:srgbClr val="5A6B7C"/>
                </a:solidFill>
                <a:latin typeface="Arial"/>
              </a:defRPr>
            </a:pPr>
            <a:r>
              <a:t>Dark web cost collapse per identity kit (down from $800)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5128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22392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E2D"/>
                </a:solidFill>
                <a:latin typeface="Arial"/>
              </a:defRPr>
            </a:pPr>
            <a:r>
              <a:t>Industrialization of Deception &amp; Scale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Arial"/>
              </a:defRPr>
            </a:pPr>
            <a:r>
              <a:t>• Unprecedented Velocity: Cybercrime overall hit $20.8B in 2025; unrecorded losses estimated at $148.2B by Consumer Federation.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Arial"/>
              </a:defRPr>
            </a:pPr>
            <a:r>
              <a:t>• PhaaS &amp; FaaS Underground: Dark LLMs (WormGPT, FraudGPT) operate on Telegram subscriptions, removing entry barriers for cyber syndicates.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Arial"/>
              </a:defRPr>
            </a:pPr>
            <a:r>
              <a:t>• Systemic Reach: 73% of global organizations affected by cyber-enabled fraud in 2025 according to WEF Global Cybersecurity Outlook.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22392" cy="7315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383280"/>
            <a:ext cx="5422392" cy="2926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500" b="1">
                <a:solidFill>
                  <a:srgbClr val="0B1E2D"/>
                </a:solidFill>
                <a:latin typeface="Arial"/>
              </a:defRPr>
            </a:pPr>
            <a:r>
              <a:t>Sector Vulnerability &amp; Primary Vectors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Arial"/>
              </a:defRPr>
            </a:pPr>
            <a:r>
              <a:t>• US Corporate Toll: American enterprises lost $1.1B to deepfake corporate scams in 2025, with Q1 2025 global losses exceeding $200M.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Arial"/>
              </a:defRPr>
            </a:pPr>
            <a:r>
              <a:t>• Investment &amp; Crypto Dominance: Investment fraud reached $8.6B, heavily driven by crypto scams and AI social engineering.</a:t>
            </a:r>
          </a:p>
          <a:p>
            <a:pPr>
              <a:spcAft>
                <a:spcPts val="600"/>
              </a:spcAft>
              <a:defRPr sz="1100">
                <a:solidFill>
                  <a:srgbClr val="1A202C"/>
                </a:solidFill>
                <a:latin typeface="Arial"/>
              </a:defRPr>
            </a:pPr>
            <a:r>
              <a:t>• Core Vectors: Deepfake BEC, AiTM session hijacking, biometric injection against KYC, and agentic synthetic identity curation.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383280"/>
            <a:ext cx="542239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THREAT VECTORS // SOCIAL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Uncensored Dark LLMs Collapsed Spear-Phishing Prep from 16 Hours to 5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1094415" cy="1097280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00A86B"/>
                </a:solidFill>
                <a:latin typeface="Arial"/>
              </a:defRPr>
            </a:pPr>
            <a:r>
              <a:t>THE DARK LLM ECOSYSTEM (WormGPT, FraudGPT, DarkBERT, DarkBARD)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Commercialized dark-web tools operate as Phishing-as-a-Service (PhaaS) without safety guardrails. They automatically parse OSINT—corporate hierarchies, LinkedIn profiles, and earnings call transcripts—to craft hyper-personalized, contextually flawless lures at machine speed.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834640"/>
          <a:ext cx="1109441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815"/>
                <a:gridCol w="4114800"/>
                <a:gridCol w="4114800"/>
              </a:tblGrid>
              <a:tr h="5638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 / Characteristic</a:t>
                      </a:r>
                    </a:p>
                  </a:txBody>
                  <a:tcPr>
                    <a:solidFill>
                      <a:srgbClr val="006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Traditional Spear-Phishing</a:t>
                      </a:r>
                    </a:p>
                  </a:txBody>
                  <a:tcPr>
                    <a:solidFill>
                      <a:srgbClr val="0066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AI-Powered Phishing (Dark LLMs)</a:t>
                      </a:r>
                    </a:p>
                  </a:txBody>
                  <a:tcPr>
                    <a:solidFill>
                      <a:srgbClr val="00664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E2D"/>
                          </a:solidFill>
                          <a:latin typeface="Arial"/>
                        </a:defRPr>
                      </a:pPr>
                      <a:r>
                        <a:t>Crafting Time per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16+ hours of human research &amp; 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&lt; 5 minutes via automated AI pipelines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E2D"/>
                          </a:solidFill>
                          <a:latin typeface="Arial"/>
                        </a:defRPr>
                      </a:pPr>
                      <a:r>
                        <a:t>Click-Through Rate (CTR)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~12% baseline across corporate targets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54% average click-through rate (4.5x surge)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E2D"/>
                          </a:solidFill>
                          <a:latin typeface="Arial"/>
                        </a:defRPr>
                      </a:pPr>
                      <a:r>
                        <a:t>Language &amp; 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Grammatical flaws, awkward phrasing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Flawless grammar; mimics executive cadence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E2D"/>
                          </a:solidFill>
                          <a:latin typeface="Arial"/>
                        </a:defRPr>
                      </a:pPr>
                      <a:r>
                        <a:t>Contextual Relevance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Generic business pressure tactics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Injects real vendor names, projects &amp; invoices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E2D"/>
                          </a:solidFill>
                          <a:latin typeface="Arial"/>
                        </a:defRPr>
                      </a:pPr>
                      <a:r>
                        <a:t>Evasion &amp; Payload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Static malicious links; known signatures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202C"/>
                          </a:solidFill>
                          <a:latin typeface="Arial"/>
                        </a:defRPr>
                      </a:pPr>
                      <a:r>
                        <a:t>Polymorphic payloads &amp; Open Graph spoofing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ATTACK MECHANICS // SESSION HIJACKING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Adversary-in-the-Middle Reverse Proxies Bypass MFA via Live Token Theft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006642"/>
                </a:solidFill>
                <a:latin typeface="Arial"/>
              </a:defRPr>
            </a:pPr>
            <a:r>
              <a:t>1. Hyper-Targeted Lure</a:t>
            </a:r>
          </a:p>
          <a:p>
            <a:pPr>
              <a:spcAft>
                <a:spcPts val="800"/>
              </a:spcAft>
              <a:defRPr sz="1100" b="1">
                <a:solidFill>
                  <a:srgbClr val="0B1E2D"/>
                </a:solidFill>
                <a:latin typeface="Arial"/>
              </a:defRPr>
            </a:pPr>
            <a:r>
              <a:t>AI Phishing Email</a:t>
            </a:r>
          </a:p>
          <a:p>
            <a:pPr>
              <a:defRPr sz="1000">
                <a:solidFill>
                  <a:srgbClr val="1A202C"/>
                </a:solidFill>
                <a:latin typeface="Arial"/>
              </a:defRPr>
            </a:pPr>
            <a:r>
              <a:t>Victim clicks AI email link directing them to reverse proxy lookalike domain (e.g., secure-login-bank.com).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560320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3154680" y="2743200"/>
            <a:ext cx="164592" cy="457200"/>
          </a:xfrm>
          <a:prstGeom prst="chevron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64992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006642"/>
                </a:solidFill>
                <a:latin typeface="Arial"/>
              </a:defRPr>
            </a:pPr>
            <a:r>
              <a:t>2. Real-Time Relay</a:t>
            </a:r>
          </a:p>
          <a:p>
            <a:pPr>
              <a:spcAft>
                <a:spcPts val="800"/>
              </a:spcAft>
              <a:defRPr sz="1100" b="1">
                <a:solidFill>
                  <a:srgbClr val="0B1E2D"/>
                </a:solidFill>
                <a:latin typeface="Arial"/>
              </a:defRPr>
            </a:pPr>
            <a:r>
              <a:t>Reverse Proxy Active</a:t>
            </a:r>
          </a:p>
          <a:p>
            <a:pPr>
              <a:defRPr sz="1000">
                <a:solidFill>
                  <a:srgbClr val="1A202C"/>
                </a:solidFill>
                <a:latin typeface="Arial"/>
              </a:defRPr>
            </a:pPr>
            <a:r>
              <a:t>Proxy (Evilproxy/Tycoon) fetches real login portal from legitimate bank &amp; relays it seamlessly to victim.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554480"/>
            <a:ext cx="2560320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971032" y="2743200"/>
            <a:ext cx="164592" cy="457200"/>
          </a:xfrm>
          <a:prstGeom prst="chevron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006642"/>
                </a:solidFill>
                <a:latin typeface="Arial"/>
              </a:defRPr>
            </a:pPr>
            <a:r>
              <a:t>3. MFA Challenge</a:t>
            </a:r>
          </a:p>
          <a:p>
            <a:pPr>
              <a:spcAft>
                <a:spcPts val="800"/>
              </a:spcAft>
              <a:defRPr sz="1100" b="1">
                <a:solidFill>
                  <a:srgbClr val="0B1E2D"/>
                </a:solidFill>
                <a:latin typeface="Arial"/>
              </a:defRPr>
            </a:pPr>
            <a:r>
              <a:t>Transparent Handshake</a:t>
            </a:r>
          </a:p>
          <a:p>
            <a:pPr>
              <a:defRPr sz="1000">
                <a:solidFill>
                  <a:srgbClr val="1A202C"/>
                </a:solidFill>
                <a:latin typeface="Arial"/>
              </a:defRPr>
            </a:pPr>
            <a:r>
              <a:t>Victim submits credentials &amp; MFA prompt; proxy passes data to real bank and captures valid MFA response.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554480"/>
            <a:ext cx="2560320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787384" y="2743200"/>
            <a:ext cx="164592" cy="457200"/>
          </a:xfrm>
          <a:prstGeom prst="chevron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97696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D97706"/>
                </a:solidFill>
                <a:latin typeface="Arial"/>
              </a:defRPr>
            </a:pPr>
            <a:r>
              <a:t>4. Token Hijack</a:t>
            </a:r>
          </a:p>
          <a:p>
            <a:pPr>
              <a:spcAft>
                <a:spcPts val="800"/>
              </a:spcAft>
              <a:defRPr sz="1100" b="1">
                <a:solidFill>
                  <a:srgbClr val="0B1E2D"/>
                </a:solidFill>
                <a:latin typeface="Arial"/>
              </a:defRPr>
            </a:pPr>
            <a:r>
              <a:t>Session Token Theft</a:t>
            </a:r>
          </a:p>
          <a:p>
            <a:pPr>
              <a:defRPr sz="1000">
                <a:solidFill>
                  <a:srgbClr val="1A202C"/>
                </a:solidFill>
                <a:latin typeface="Arial"/>
              </a:defRPr>
            </a:pPr>
            <a:r>
              <a:t>Proxy intercepts resulting cryptographic session cookie/OAuth token, giving complete account access.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7696" y="1554480"/>
            <a:ext cx="25603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11094415" cy="1554480"/>
          </a:xfrm>
          <a:prstGeom prst="rect">
            <a:avLst/>
          </a:prstGeom>
          <a:solidFill>
            <a:srgbClr val="0B1E2D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CRITICAL IMPLICATION: 'MFA-ENABLED' IS NO LONGER SYNONYMOUS WITH 'MFA-SAFE'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Because AiTM intercepts tokens after a legitimate MFA handshake, traditional fraud-scoring engines fail to flag subsequent malicious activity. Once inside, attackers exploit Open Banking APIs for programmatic lateral movement—siphoning funds automatically or harvesting years of transactional history for hyper-targeted extortion.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SYNTHETIC MEDIA // EXECUTIVE IMPERSONATION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Real-Time Video Face-Swapping and 3-Second Voice Cloning Neutralize Sensory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42239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006642"/>
                </a:solidFill>
                <a:latin typeface="Arial"/>
              </a:defRPr>
            </a:pPr>
            <a:r>
              <a:t>Voice Cloning &amp; Vishing Escalation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3-Second Audio Harvesting: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Voice cloning models achieve 85% accuracy with just 3 seconds of scraped audio from earnings calls or social media.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1,633% Surge in Vishing: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Deepfake vishing (voice phishing) surged 1,633% between Q4 2024 and Q1 2025, heavily targeting corporate treasury desks.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Contact Center Vulnerability: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Pindrop reported $12.5B in contact center fraud losses in 2024; AI voices bypass bank voice biometrics with 99% success in 6 attempts.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Multimodal Attack Chains: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Attacks blend text email pretexts -&gt; voice cloned call reinforcement -&gt; live video deepfake conference 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2239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42239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D97706"/>
                </a:solidFill>
                <a:latin typeface="Arial"/>
              </a:defRPr>
            </a:pPr>
            <a:r>
              <a:t>Case Study: Arup $25.6M Deepfake Theft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The Incident (Jan 2024):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A finance worker at engineering firm Arup in Hong Kong was instructed to execute transfers during a video call.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Synthetic Conference Call: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Every other participant on the call—including the CFO and colleagues—was a real-time synthetic deepfake generated from public media.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Pure Human Trust Exploitation: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The employee authorized 15 wire transfers totaling $25.6M. The attack involved zero malware, zero network breaches, and zero firewall bypasses.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Strategic Insight: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Visual and auditory trust signals within collaboration platforms are fully compromised; human detection accuracy hovers at coin-flip levels (55.5%).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42239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IDENTITY VERIFICATION // ONBOARDING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Digital Injection Attacks Bypass Physical Camera Sensors to Defeat Legacy Liveness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6642"/>
                </a:solidFill>
                <a:latin typeface="Arial"/>
              </a:defRPr>
            </a:pPr>
            <a:r>
              <a:t>Presentation vs. Injection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Legacy PAD Focus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Designed to detect physical presentation (e.g. paper photos, silicone masks).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Digital Injection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Bypasses camera entirely via virtual software (OBS, emulators) or API hooking.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No Pixel Glitch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Direct digital injection feeds flawless video into onboarding apps.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74136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B1E2D"/>
                </a:solidFill>
                <a:latin typeface="Arial"/>
              </a:defRPr>
            </a:pPr>
            <a:r>
              <a:t>Real-Time Deepfake Bypass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Liveness Response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Attackers use DeepFaceLive/SimSwap to fulfill liveness prompts on demand.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Active Prompts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Deepfakes blink, smile, and turn heads in real-time response to app prompts.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High Crypto Rate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Crypto KYC deepfake incidents surged 654%; 40% of biometric fraud uses deepfakes.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4136" y="1554480"/>
            <a:ext cx="2587752" cy="7315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Synthetic ID Commoditization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Price Collapse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Full synthetic ID packages collapsed from $800 (2022) to &lt; $15 on dark web.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Curated Persona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Diffusion models create passport photos; LLMs generate fake credit histories.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Mule Accounts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Enables programmatic creation of thousands of accounts for money laundering.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554480"/>
            <a:ext cx="25877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25128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6642"/>
                </a:solidFill>
                <a:latin typeface="Arial"/>
              </a:defRPr>
            </a:pPr>
            <a:r>
              <a:t>CEN 18099 &amp; Hardware Defense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Standardization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European CEN 18099 framework establishes testing for Injection Attack Detection.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Hardware Attestation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Forces KYC vendors to verify cryptographic device signatures.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Beyond Pixels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Shifts security from surface video analysis to hardware trust anchors.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5128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FUTURE THREATS // AGENTIC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Autonomous AI Agents Orchestrate Multi-Month Credit Curation and Machine-Speed Exploitation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06642"/>
                </a:solidFill>
                <a:latin typeface="Arial"/>
              </a:defRPr>
            </a:pPr>
            <a:r>
              <a:t>Stage 1: Target Scouting</a:t>
            </a:r>
          </a:p>
          <a:p>
            <a:pPr>
              <a:spcAft>
                <a:spcPts val="600"/>
              </a:spcAft>
              <a:defRPr sz="1050" b="1">
                <a:solidFill>
                  <a:srgbClr val="0B1E2D"/>
                </a:solidFill>
                <a:latin typeface="Arial"/>
              </a:defRPr>
            </a:pPr>
            <a:r>
              <a:t>Automated OSINT</a:t>
            </a:r>
          </a:p>
          <a:p>
            <a:pPr>
              <a:defRPr sz="950">
                <a:solidFill>
                  <a:srgbClr val="1A202C"/>
                </a:solidFill>
                <a:latin typeface="Arial"/>
              </a:defRPr>
            </a:pPr>
            <a:r>
              <a:t>Autonomous agents parse CVE data, network topologies, and corporate registries to map target ecosystems without human intervention.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560320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3154680" y="2743200"/>
            <a:ext cx="164592" cy="457200"/>
          </a:xfrm>
          <a:prstGeom prst="chevron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64992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06642"/>
                </a:solidFill>
                <a:latin typeface="Arial"/>
              </a:defRPr>
            </a:pPr>
            <a:r>
              <a:t>Stage 2: Persona Nurturing</a:t>
            </a:r>
          </a:p>
          <a:p>
            <a:pPr>
              <a:spcAft>
                <a:spcPts val="600"/>
              </a:spcAft>
              <a:defRPr sz="1050" b="1">
                <a:solidFill>
                  <a:srgbClr val="0B1E2D"/>
                </a:solidFill>
                <a:latin typeface="Arial"/>
              </a:defRPr>
            </a:pPr>
            <a:r>
              <a:t>Synthetic Credit Building</a:t>
            </a:r>
          </a:p>
          <a:p>
            <a:pPr>
              <a:defRPr sz="950">
                <a:solidFill>
                  <a:srgbClr val="1A202C"/>
                </a:solidFill>
                <a:latin typeface="Arial"/>
              </a:defRPr>
            </a:pPr>
            <a:r>
              <a:t>Agents execute micro-transactions and interact with loan officers over 6-18 months to build authentic credit scores programmatically.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554480"/>
            <a:ext cx="2560320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971032" y="2743200"/>
            <a:ext cx="164592" cy="457200"/>
          </a:xfrm>
          <a:prstGeom prst="chevron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344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006642"/>
                </a:solidFill>
                <a:latin typeface="Arial"/>
              </a:defRPr>
            </a:pPr>
            <a:r>
              <a:t>Stage 3: Vulnerability Exploitation</a:t>
            </a:r>
          </a:p>
          <a:p>
            <a:pPr>
              <a:spcAft>
                <a:spcPts val="600"/>
              </a:spcAft>
              <a:defRPr sz="1050" b="1">
                <a:solidFill>
                  <a:srgbClr val="0B1E2D"/>
                </a:solidFill>
                <a:latin typeface="Arial"/>
              </a:defRPr>
            </a:pPr>
            <a:r>
              <a:t>PentestGPT / VoltRuptor</a:t>
            </a:r>
          </a:p>
          <a:p>
            <a:pPr>
              <a:defRPr sz="950">
                <a:solidFill>
                  <a:srgbClr val="1A202C"/>
                </a:solidFill>
                <a:latin typeface="Arial"/>
              </a:defRPr>
            </a:pPr>
            <a:r>
              <a:t>LLM-assisted systems synthesize zero-day exploit code on the fly and automate multi-host lateral movement in enterprise networks.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554480"/>
            <a:ext cx="2560320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8787384" y="2743200"/>
            <a:ext cx="164592" cy="457200"/>
          </a:xfrm>
          <a:prstGeom prst="chevron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97696" y="1554480"/>
            <a:ext cx="25603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1200" b="1">
                <a:solidFill>
                  <a:srgbClr val="D97706"/>
                </a:solidFill>
                <a:latin typeface="Arial"/>
              </a:defRPr>
            </a:pPr>
            <a:r>
              <a:t>Stage 4: Machine Bust-Out</a:t>
            </a:r>
          </a:p>
          <a:p>
            <a:pPr>
              <a:spcAft>
                <a:spcPts val="600"/>
              </a:spcAft>
              <a:defRPr sz="1050" b="1">
                <a:solidFill>
                  <a:srgbClr val="0B1E2D"/>
                </a:solidFill>
                <a:latin typeface="Arial"/>
              </a:defRPr>
            </a:pPr>
            <a:r>
              <a:t>Synchronized Drawdown</a:t>
            </a:r>
          </a:p>
          <a:p>
            <a:pPr>
              <a:defRPr sz="950">
                <a:solidFill>
                  <a:srgbClr val="1A202C"/>
                </a:solidFill>
                <a:latin typeface="Arial"/>
              </a:defRPr>
            </a:pPr>
            <a:r>
              <a:t>Agents trigger simultaneous credit line drawdowns and wire transfers across thousands of synthetic identities in milliseconds.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7696" y="1554480"/>
            <a:ext cx="25603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63440"/>
            <a:ext cx="11094415" cy="1554480"/>
          </a:xfrm>
          <a:prstGeom prst="rect">
            <a:avLst/>
          </a:prstGeom>
          <a:solidFill>
            <a:srgbClr val="0B1E2D"/>
          </a:solidFill>
          <a:ln w="19050">
            <a:solidFill>
              <a:srgbClr val="0066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00A86B"/>
                </a:solidFill>
                <a:latin typeface="Arial"/>
              </a:defRPr>
            </a:pPr>
            <a:r>
              <a:t>OPERATIONAL VIABILITY IN CRITICAL INFRASTRUCTURE &amp; BACKBONES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 mid-2025, specialized ICS malware named VoltRuptor compromised European building automation systems via AI pipelines, while groups like SafePay fed info-stealer (Lumma) credentials into AI engines for automated financial intrusions. Agentic fraud marks the shift from human-in-the-loop cybercrime to machine-speed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EMERGING VECTORS // INSIDER &amp; INVESTMENT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Synthetic Personas Infiltrate Enterprise IT while AI Bots Scale Relationship Scams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422392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0B1E2D"/>
                </a:solidFill>
                <a:latin typeface="Arial"/>
              </a:defRPr>
            </a:pPr>
            <a:r>
              <a:t>DPRK Remote Worker Recruitment Fraud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State-Sponsored Infiltration: North Korean operatives use deepfakes &amp; stolen IDs to pass HR interviews.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Enterprise Toll: FBI documented schemes across 136+ US firms; Amazon blocked &gt;1,800 fake applicants.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Strategic Risk: Operatives earn $300k+ salaries for regime funds while establishing persistent insider access.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22392" cy="7315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422392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006642"/>
                </a:solidFill>
                <a:latin typeface="Arial"/>
              </a:defRPr>
            </a:pPr>
            <a:r>
              <a:t>Recruitment Deepfake Surge &amp; Profile Fabrications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Hiring Deepfakes +1,300%: Deepfake hiring attempts exploded; 23% of background checks detect identity fraud.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Gartner 2028 Projection: Predicts 1 in 4 job seeker profiles will be completely artificial by 2028.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HR Protocol Shift: Mandatory in-person interviews for key roles &amp; strict device/biometric verification.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42239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5422392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006642"/>
                </a:solidFill>
                <a:latin typeface="Arial"/>
              </a:defRPr>
            </a:pPr>
            <a:r>
              <a:t>Automated 'Pig Butchering' &amp; Romance Bots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LLM-Powered Rapport: Emotionally intelligent AI bots sustain dozens of simultaneous relationships.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4.5x Profit Multiplier: AI-enabled crypto scams generate $14B in losses, proving 4.5x more profitable.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End-to-End Automation: FTC notes AI powers recruiter bots, fake trading portals, and customer support.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31920"/>
            <a:ext cx="542239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3931920"/>
            <a:ext cx="5422392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spcAft>
                <a:spcPts val="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The 'Truman Show' Synthetic Ecosystem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Check Point 2026 Exposure: Scammers deployed 90 AI-generated 'experts' in controlled chat groups.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Controlled Environment: Surrounds victims with a completely artificial consensus to validate fake trades.</a:t>
            </a:r>
          </a:p>
          <a:p>
            <a:pPr>
              <a:spcAft>
                <a:spcPts val="3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• Targeting Seniors: Individuals &gt;60 remain primary targets, seeing a 43% surge in crypto scam losses.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931920"/>
            <a:ext cx="542239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GOVERNANCE &amp; COMPLIANCE // REGULATORY SHIFTS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UK PSR Mandates 50/50 Liability Split for APP Scams as Global Regulations Enforce Accountability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42239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06642"/>
                </a:solidFill>
                <a:latin typeface="Arial"/>
              </a:defRPr>
            </a:pPr>
            <a:r>
              <a:t>UK PSR Mandatory Reimbursement (Oct 2024)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50/50 Liability Split: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Reimbursement costs for Authorised Push Payment (APP) fraud on Faster Payments are split equally between Sending and Receiving banks.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Receiving Bank Accountability: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Fundamentally alters ROI: receiving banks harboring synthetic mule accounts face direct financial penalties for fraud reception.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Strict Consumer SLAs: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Mandatory refund within 5 business days up to £85,000 cap; claims denied only for gross negligence or first-party fraud.</a:t>
            </a:r>
          </a:p>
          <a:p>
            <a:pPr>
              <a:defRPr sz="1100" b="1">
                <a:solidFill>
                  <a:srgbClr val="0B1E2D"/>
                </a:solidFill>
                <a:latin typeface="Arial"/>
              </a:defRPr>
            </a:pPr>
            <a:r>
              <a:t>• Capital Reallocation: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Forces financial institutions to invest heavily in Injection Attack Detection (IAD) and onboarding fraud prevention.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42239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542239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spcAft>
                <a:spcPts val="800"/>
              </a:spcAft>
              <a:defRPr sz="1500" b="1">
                <a:solidFill>
                  <a:srgbClr val="0B1E2D"/>
                </a:solidFill>
                <a:latin typeface="Arial"/>
              </a:defRPr>
            </a:pPr>
            <a:r>
              <a:t>Global Regulatory &amp; Standard Alignments</a:t>
            </a:r>
          </a:p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• FinCEN High-Priority Alert: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US Financial Crimes Enforcement Network issued formal alerts designating deepfake fraud as a top Anti-Money Laundering (AML) priority.</a:t>
            </a:r>
          </a:p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• EU AI Act Article 50 (Aug 2026):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Enforces binding technical watermarking and transparency requirements for generative AI media outputs.</a:t>
            </a:r>
          </a:p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• CEN 18099 European Benchmark: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Establishes standardized testing for Injection Attack Detection (IAD), auditing device-level biometric attestation.</a:t>
            </a:r>
          </a:p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• Cyber Insurance Exclusions: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Arial"/>
              </a:defRPr>
            </a:pPr>
            <a:r>
              <a:t>  Insurers increasingly invoke 'voluntary parting' clauses to exclude social engineering losses, heightening corporate liability.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422392" cy="7315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6642"/>
                </a:solidFill>
                <a:latin typeface="Arial"/>
              </a:defRPr>
            </a:pPr>
            <a:r>
              <a:t>DEFENSIVE STRATEGY // ZERO-TRUST RESILIENCE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Georgia"/>
              </a:defRPr>
            </a:pPr>
            <a:r>
              <a:t>Transitioning from Obsolete 'Glitch Spotting' to Procedural Friction and Cyber-Fraud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6642"/>
                </a:solidFill>
                <a:latin typeface="Arial"/>
              </a:defRPr>
            </a:pPr>
            <a:r>
              <a:t>1. Procedural Controls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Out-of-Band Callbacks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Mandatory secondary verification via independent pre-registered channels for all high-value transfers.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Pre-Agreed Passcodes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Execs use pre-stored secret phrases before confirming sensitive directives.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Abandon Perception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Human detection accuracy (55%) is coin-flip; rely on hard process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74136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B1E2D"/>
                </a:solidFill>
                <a:latin typeface="Arial"/>
              </a:defRPr>
            </a:pPr>
            <a:r>
              <a:t>2. Hardware Attestation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CEN 18099 Compliance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Deploy Injection Attack Detection (IAD) to interrogate video input integrity.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Device Cryptography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Validate device hardware attestation rather than analyzing surface pixels.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Virtual Camera Blocks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Restrict unverified emulators and virtual camera drivers in KYC apps.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4136" y="1554480"/>
            <a:ext cx="2587752" cy="73152"/>
          </a:xfrm>
          <a:prstGeom prst="rect">
            <a:avLst/>
          </a:prstGeom>
          <a:solidFill>
            <a:srgbClr val="0B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9632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3. Cyber &amp; Fraud Fusion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Unified Data Lakes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Correlate CISO network telemetry (VPNs, device IDs) with AML transaction logic.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Contextual Visibility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Track attacks from AiTM session theft -&gt; identity change -&gt; wire execution.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Break Operations Silos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Merge CTI, AML, and Fraud Strategy into unified intelligence teams.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554480"/>
            <a:ext cx="25877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25128" y="1554480"/>
            <a:ext cx="2587752" cy="46634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spcAft>
                <a:spcPts val="800"/>
              </a:spcAft>
              <a:defRPr sz="1300" b="1">
                <a:solidFill>
                  <a:srgbClr val="006642"/>
                </a:solidFill>
                <a:latin typeface="Arial"/>
              </a:defRPr>
            </a:pPr>
            <a:r>
              <a:t>4. Defensive Agentic AI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Machine-Speed Triage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Deploy AI agents (e.g. Nasdaq Verafin) to analyze alert streams instantaneously.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Continuous Biometrics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Monitor subtle behavioral biometrics (keystrokes, mouse dynamics) post-login.</a:t>
            </a:r>
          </a:p>
          <a:p>
            <a:pPr>
              <a:defRPr sz="1000" b="1">
                <a:solidFill>
                  <a:srgbClr val="0B1E2D"/>
                </a:solidFill>
                <a:latin typeface="Arial"/>
              </a:defRPr>
            </a:pPr>
            <a:r>
              <a:t>• Zero-Trust Integrity</a:t>
            </a:r>
          </a:p>
          <a:p>
            <a:pPr>
              <a:spcAft>
                <a:spcPts val="600"/>
              </a:spcAft>
              <a:defRPr sz="950">
                <a:solidFill>
                  <a:srgbClr val="1A202C"/>
                </a:solidFill>
                <a:latin typeface="Arial"/>
              </a:defRPr>
            </a:pPr>
            <a:r>
              <a:t>Enforce continuous session validation across all open banking APIs.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5128" y="1554480"/>
            <a:ext cx="2587752" cy="73152"/>
          </a:xfrm>
          <a:prstGeom prst="rect">
            <a:avLst/>
          </a:prstGeom>
          <a:solidFill>
            <a:srgbClr val="006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 b="1">
                <a:solidFill>
                  <a:srgbClr val="5A6B7C"/>
                </a:solidFill>
                <a:latin typeface="Arial"/>
              </a:defRPr>
            </a:pPr>
            <a:r>
              <a:t>EXECUTIVE BRIEFING // FINANCIAL THREAT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4255" y="644652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5A6B7C"/>
                </a:solidFill>
                <a:latin typeface="Arial"/>
              </a:defRPr>
            </a:pPr>
            <a:r>
              <a:t>Page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