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0728655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  <a:latin typeface="Georgia"/>
              </a:defRPr>
            </a:pPr>
            <a:r>
              <a:t>WEAPONIZING DECEPTION</a:t>
            </a:r>
          </a:p>
          <a:p>
            <a:pPr>
              <a:defRPr sz="2600" b="1">
                <a:solidFill>
                  <a:srgbClr val="006642"/>
                </a:solidFill>
                <a:latin typeface="Georgia"/>
              </a:defRPr>
            </a:pPr>
            <a:r>
              <a:t>The Industrialization of AI-Enabled Fraud &amp; Cyber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An Incident-Based Strategic Analysis Across Financial Crime, Autonomous AI Exploitation, and Enterprise Risk Architecture (2024–2027)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4134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34134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PILLAR I: FINANCIAL IMPACT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Quantifying the macroeconomic scale of deepfakes, synthetic identities, and session hijacking in banking.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4134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3931920"/>
            <a:ext cx="34134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PILLAR II: AUTONOMOUS AI ATTACKS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Analyzing Anthropic threat data on agentic kill chains, zero-day foundries, and self-healing malware.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4134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931920"/>
            <a:ext cx="34134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1480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PILLAR III: STRATEGIC DEFENSE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Mapping regulatory liability shifts (UK PSR, EU AI Act) and zero-trust procedural verification architectures.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 OF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MACROECONOMIC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AI-Driven Fraud Caused $6.3B in Direct FBI Losses as Total Cybercrime Surged Past $148B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990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247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42"/>
                </a:solidFill>
                <a:latin typeface="Georgia"/>
              </a:defRPr>
            </a:pPr>
            <a:r>
              <a:t>$6.3B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FBI Reported AI Fraud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Direct isolated AI fraud losses in 2025 (FBI IC3 Report).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990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2247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42"/>
                </a:solidFill>
                <a:latin typeface="Georgia"/>
              </a:defRPr>
            </a:pPr>
            <a:r>
              <a:t>$148.2B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True Online Crime Toll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Estimated total US scam &amp; crime cost accounting for unreported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990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22247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42"/>
                </a:solidFill>
                <a:latin typeface="Georgia"/>
              </a:defRPr>
            </a:pPr>
            <a:r>
              <a:t>2,137%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Deepfake Surge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Growth in deepfake identity fraud incidents (2022–2025).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990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783080"/>
            <a:ext cx="22247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42"/>
                </a:solidFill>
                <a:latin typeface="Georgia"/>
              </a:defRPr>
            </a:pPr>
            <a:r>
              <a:t>&lt; $15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Synthetic ID Package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Dark web cost of full AI synthetic ID package (down from $800).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728655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KEY MACROECONOMIC FINDINGS &amp; SYSTEMIC IMPACT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Explosive Investment Fraud: </a:t>
            </a:r>
            <a:r>
              <a:rPr sz="1100">
                <a:solidFill>
                  <a:srgbClr val="475569"/>
                </a:solidFill>
              </a:rPr>
              <a:t>Investment fraud powered by AI social engineering and crypto scams reached $8.6B in 2025, representing the largest single loss component reported by the FBI IC3.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Widespread Organizational Impact: </a:t>
            </a:r>
            <a:r>
              <a:rPr sz="1100">
                <a:solidFill>
                  <a:srgbClr val="475569"/>
                </a:solidFill>
              </a:rPr>
              <a:t>According to World Economic Forum data, 73% of global organizations were directly impacted by cyber-enabled fraud in 2025.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Collapsing Cost Asymmetry: </a:t>
            </a:r>
            <a:r>
              <a:rPr sz="1100">
                <a:solidFill>
                  <a:srgbClr val="475569"/>
                </a:solidFill>
              </a:rPr>
              <a:t>Generative AI tools have lowered the cost of executing sophisticated social engineering from $800 per attack package to under $15, enabling criminal syndicates to operate at machine scale.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Human Perception Failure: </a:t>
            </a:r>
            <a:r>
              <a:rPr sz="1100">
                <a:solidFill>
                  <a:srgbClr val="475569"/>
                </a:solidFill>
              </a:rPr>
              <a:t>Meta-analyses demonstrate that human detection of synthetic media hovers at 55.5% (statistically indistinguishable from a coin flip), forcing a complete pivot from user training to procedural controls.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2 OF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ANTHROPIC THREAT INTELLIGENCE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AI Capabilities Have Shifted from Conversational Coding Tools to Autonomous Kill-Chain Orchestrators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134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STAGE 1: ASSISTANT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Georgia"/>
              </a:defRPr>
            </a:pPr>
            <a:r>
              <a:t>Human-Driven Coding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Model acts as an engineering assistant generating code snippets, phishing scripts, or translation upon direct human prompts.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134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4134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STAGE 2: GUIDED EXECUTION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Georgia"/>
              </a:defRPr>
            </a:pPr>
            <a:r>
              <a:t>Operator-Directed Tools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Threat actors configure AI frameworks to run commands, harvest credentials, and exfiltrate data, with human confirming target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34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4134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STAGE 3: FULL AUTONOMY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Georgia"/>
              </a:defRPr>
            </a:pPr>
            <a:r>
              <a:t>Multi-Agent Swarms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Autonomous AI agents execute multi-victim recon, zero-day research, and self-healing malware re-compilation with zero human in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72865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CORE THREAT INTELLIGENCE TAKEAWAYS (ANTHROPIC SEPT 2026 THREAT REPORT)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Labor &amp; Tooling Gap Collapsed: </a:t>
            </a:r>
            <a:r>
              <a:rPr sz="1100">
                <a:solidFill>
                  <a:srgbClr val="475569"/>
                </a:solidFill>
              </a:rPr>
              <a:t>AI capability has eliminated the divide between state-sponsored threat groups and individual hacktivists. Lone operators now run multi-victim campaigns previously requiring entire teams.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Kill Chain Speed Acceleration: </a:t>
            </a:r>
            <a:r>
              <a:rPr sz="1100">
                <a:solidFill>
                  <a:srgbClr val="475569"/>
                </a:solidFill>
              </a:rPr>
              <a:t>Intrusions now progress from initial credential access to full cloud tenant takeover and multi-terabyte exfiltration in as little as 2 to 3 hours.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Autonomous Persistence: </a:t>
            </a:r>
            <a:r>
              <a:rPr sz="1100">
                <a:solidFill>
                  <a:srgbClr val="475569"/>
                </a:solidFill>
              </a:rPr>
              <a:t>Threat groups leverage public agent frameworks (PentAGI) and custom harnesses that maintain campaign memory across working sessions, operating unattended on pre-set schedules.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3 OF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SOCIAL ENGINEERING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Uncensored Dark LLMs Collapsed Spear-Phishing Preparation from 16 Hours to 5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00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TRADITIONAL VS. AI-POWERED PHISHING MECHANICS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Preparation Time: </a:t>
            </a:r>
            <a:r>
              <a:rPr sz="1050">
                <a:solidFill>
                  <a:srgbClr val="475569"/>
                </a:solidFill>
              </a:rPr>
              <a:t>16+ hours per targeted spear-phishing email → ~5 minutes using LLM OSINT scraping.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Click-Through Rate: </a:t>
            </a:r>
            <a:r>
              <a:rPr sz="1050">
                <a:solidFill>
                  <a:srgbClr val="475569"/>
                </a:solidFill>
              </a:rPr>
              <a:t>12% average baseline for human lures → 54% average click-through rate for AI lures.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Linguistic Quality: </a:t>
            </a:r>
            <a:r>
              <a:rPr sz="1050">
                <a:solidFill>
                  <a:srgbClr val="475569"/>
                </a:solidFill>
              </a:rPr>
              <a:t>Generic greetings, grammatical flaws → Hyper-personalized, flawless contextual prose.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Scale &amp; Volume: </a:t>
            </a:r>
            <a:r>
              <a:rPr sz="1050">
                <a:solidFill>
                  <a:srgbClr val="475569"/>
                </a:solidFill>
              </a:rPr>
              <a:t>Manual, labor-intensive targeting → Automated Phishing-as-a-Service (PhaaS) campaigns.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Detection Evasion: </a:t>
            </a:r>
            <a:r>
              <a:rPr sz="1050">
                <a:solidFill>
                  <a:srgbClr val="475569"/>
                </a:solidFill>
              </a:rPr>
              <a:t>Static rules detect known spam keywords → Polymorphic, dynamically generated narratives bypass SEG filters.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496793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602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DARK LLM COMMERCIALIZATION (WormGPT / FraudGPT)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Uncensored LLMs sold on Telegram &amp; darknet forums operate without safety guardrails, enabling automated malware coding and persuasive BEC lure drafting. Vendors generated $28k+ in revenue within 2 months of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977639"/>
            <a:ext cx="4967935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3977639"/>
            <a:ext cx="496793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114800"/>
            <a:ext cx="4602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GLOBAL PHISHING INTRUSION METRICS (ENISA 2025/2026)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Phishing accounts for 60% of all initial network intrusion attempts. By 2025, over 80% of observed social engineering activity worldwide utilized AI support, with tools like Xanthorox AI automating malware delivery.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4 OF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AUTHENTICATION &amp; SESSION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Adversary-in-the-Middle Reverse Proxies Bypass MFA via Live Token Theft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990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247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STEP 1: LURE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AI Phishing Email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Hyper-personalized AI email directs victim to lookalike banking portal.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990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2247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STEP 2: RELAY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Reverse Proxy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Proxy (Evilproxy/Tycoon) relays legitimate bank portal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990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22247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STEP 3: INTERCEPT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Live OTP Capture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Victim submits login &amp; MFA; proxy captures credentials and session cookie.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990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783080"/>
            <a:ext cx="22247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STEP 4: HIJACK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Session Token Theft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Attacker injects session token into browser, bypassing MFA entirely.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CRITICAL IMPLICATIONS: OPEN BANKING API EXPLOITATION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Shift from Passwords to Cookies: </a:t>
            </a:r>
            <a:r>
              <a:rPr sz="1100">
                <a:solidFill>
                  <a:srgbClr val="475569"/>
                </a:solidFill>
              </a:rPr>
              <a:t>Mandatory MFA forced criminals to pivot from credential stuffing to session token hijacking. Stolen session cookies allow attackers to maintain persistent account access without prompting MFA re-authentication.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Open Banking API Abuse: </a:t>
            </a:r>
            <a:r>
              <a:rPr sz="1100">
                <a:solidFill>
                  <a:srgbClr val="475569"/>
                </a:solidFill>
              </a:rPr>
              <a:t>Once inside a session, attackers utilize automated scripts to query Open Banking APIs, executing high-speed wire transfers, adding new payees, and modifying account recovery details before IT detection.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Phishing-as-a-Service (PhaaaS) Commercialization: </a:t>
            </a:r>
            <a:r>
              <a:rPr sz="1100">
                <a:solidFill>
                  <a:srgbClr val="475569"/>
                </a:solidFill>
              </a:rPr>
              <a:t>Turnkey platforms like Evilproxy and Sneaky 2FA lower technical barriers, allowing non-technical fraudsters to execute real-time AiTM session interception at scale.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5 OF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SYNTHETIC MEDIA &amp; EXECUTIVE IMPERSONATION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Real-Time Video Face-Swapping and 3-Second Voice Cloning Neutralize Sensory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AUDIO VOICE CLONING &amp; CONTACT CENTER THREATS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3-Second Sample Requirement: </a:t>
            </a:r>
            <a:r>
              <a:rPr sz="1050">
                <a:solidFill>
                  <a:srgbClr val="475569"/>
                </a:solidFill>
              </a:rPr>
              <a:t>Modern neural voice models achieve 85% voice match accuracy using just 3 seconds of scraped public audio (earnings calls, YouTube interviews).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1,633% Vishing Surge: </a:t>
            </a:r>
            <a:r>
              <a:rPr sz="1050">
                <a:solidFill>
                  <a:srgbClr val="475569"/>
                </a:solidFill>
              </a:rPr>
              <a:t>Deepfake vishing (voice phishing) attacks exploded by 1,633% between Q4 2024 and Q1 2025.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$12.5B Contact Center Losses: </a:t>
            </a:r>
            <a:r>
              <a:rPr sz="1050">
                <a:solidFill>
                  <a:srgbClr val="475569"/>
                </a:solidFill>
              </a:rPr>
              <a:t>Pindrop's 2025 Security Report documented $12.5B in contact center fraud, driven by synthetic voices bypassing IVR biometrics.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99% Authentication Bypass: </a:t>
            </a:r>
            <a:r>
              <a:rPr sz="1050">
                <a:solidFill>
                  <a:srgbClr val="475569"/>
                </a:solidFill>
              </a:rPr>
              <a:t>AI-generated voices successfully bypassed standard bank voice-biometric authentication systems in 99% of tests within 6 attempts.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EMPIRICAL CASE STUDY: THE $25.6M ARUP THEFT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Target &amp; Location: </a:t>
            </a:r>
            <a:r>
              <a:rPr sz="1050">
                <a:solidFill>
                  <a:srgbClr val="475569"/>
                </a:solidFill>
              </a:rPr>
              <a:t>Multinational engineering firm Arup (Hong Kong branch).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Attack Vector: </a:t>
            </a:r>
            <a:r>
              <a:rPr sz="1050">
                <a:solidFill>
                  <a:srgbClr val="475569"/>
                </a:solidFill>
              </a:rPr>
              <a:t>Multi-participant video conference call where every other attendee—including the CFO and colleagues—was a real-time synthetic deepfake.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Execution Mechanics: </a:t>
            </a:r>
            <a:r>
              <a:rPr sz="1050">
                <a:solidFill>
                  <a:srgbClr val="475569"/>
                </a:solidFill>
              </a:rPr>
              <a:t>Pretext established via AI email, followed by voice-cloned call, and finalized in live video face-swapping conference.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Financial Loss: </a:t>
            </a:r>
            <a:r>
              <a:rPr sz="1050">
                <a:solidFill>
                  <a:srgbClr val="475569"/>
                </a:solidFill>
              </a:rPr>
              <a:t>Employee authorized 15 separate wire transfers totaling $25.6 Million.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Strategic Lesson: </a:t>
            </a:r>
            <a:r>
              <a:rPr sz="1050">
                <a:solidFill>
                  <a:srgbClr val="475569"/>
                </a:solidFill>
              </a:rPr>
              <a:t>Zero malware or network breach was involved. The attack achieved total compromise purely by exploiting human visual/auditory trust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6 OF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BIOMETRIC IDENTITY &amp; REMOTE ONBOARDING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Digital Injection Attacks Bypass Physical Camera Sensors to Defeat Legacy Liveness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990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247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PAD VS. IAD SHIFT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Georgia"/>
              </a:defRPr>
            </a:pPr>
            <a:r>
              <a:t>Presentation vs Injection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Presentation Attack Detection (PAD) checks physical glare. Injection Attack Detection (IAD) inspects direct digital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990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2247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OBS &amp; EMULATORS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Georgia"/>
              </a:defRPr>
            </a:pPr>
            <a:r>
              <a:t>Virtual Camera Tools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OBS Virtual Camera and Android emulators feed pre-rendered synthetic streams directly into banking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990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22247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PROMPT BYPASS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Georgia"/>
              </a:defRPr>
            </a:pPr>
            <a:r>
              <a:t>Real-Time DeepFaceLive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DeepFaceLive executes head-turn, blink, and smile challenges on command, bypassing active liveness prompts.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990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783080"/>
            <a:ext cx="22247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CEN 18099 BENCHMARK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Georgia"/>
              </a:defRPr>
            </a:pPr>
            <a:r>
              <a:t>Hardware Attestation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European standard CEN 18099 shifts KYC defense from pixel analysis to hardware cryptographic attestation.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072865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SECTOR-SPECIFIC DEEPFAKE FRAUD EXPOSURE RATES (2025–2026)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E-commerce &amp; Marketplaces (19.2% Exposure): </a:t>
            </a:r>
            <a:r>
              <a:rPr sz="1050">
                <a:solidFill>
                  <a:srgbClr val="475569"/>
                </a:solidFill>
              </a:rPr>
              <a:t>Primary vectors include Account Takeover (ATO) and synthetic review manipulation.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Crypto &amp; Web3 Platforms (15.4% Exposure): </a:t>
            </a:r>
            <a:r>
              <a:rPr sz="1050">
                <a:solidFill>
                  <a:srgbClr val="475569"/>
                </a:solidFill>
              </a:rPr>
              <a:t>Primary vector is automated KYC bypass via digital video stream injection.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Online Lending &amp; BNPL (8.7% Exposure): </a:t>
            </a:r>
            <a:r>
              <a:rPr sz="1050">
                <a:solidFill>
                  <a:srgbClr val="475569"/>
                </a:solidFill>
              </a:rPr>
              <a:t>Primary vector is synthetic identity creation for immediate credit line drawdowns.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</a:rPr>
              <a:t>• Banking &amp; Financial Services (5.5% Exposure): </a:t>
            </a:r>
            <a:r>
              <a:rPr sz="1050">
                <a:solidFill>
                  <a:srgbClr val="475569"/>
                </a:solidFill>
              </a:rPr>
              <a:t>Primary vectors include mule account creation, wire fraud, and authorized push payments.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7 OF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IDENTITY FABRICATION &amp; CREDIT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Synthetic Personas Fabricated for Under $15 Drive $40B in Annual Financial Losses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990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247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42"/>
                </a:solidFill>
                <a:latin typeface="Georgia"/>
              </a:defRPr>
            </a:pPr>
            <a:r>
              <a:t>$40 Billion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Projected Annual Loss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Annual US AI-enabled fraud losses projected by 2027 (Deloitte).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990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2247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42"/>
                </a:solidFill>
                <a:latin typeface="Georgia"/>
              </a:defRPr>
            </a:pPr>
            <a:r>
              <a:t>$30 Billion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Life Insurance Losses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Estimated annual losses attributed to synthetic identity fraud in life insurance.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990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22247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42"/>
                </a:solidFill>
                <a:latin typeface="Georgia"/>
              </a:defRPr>
            </a:pPr>
            <a:r>
              <a:t>40%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Biometric Deepfake Share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Share of global biometric fraud attempts utilizing deepfakes by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990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783080"/>
            <a:ext cx="22247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42"/>
                </a:solidFill>
                <a:latin typeface="Georgia"/>
              </a:defRPr>
            </a:pPr>
            <a:r>
              <a:t>&lt; $15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Dark Web Kit Cost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Cost of complete synthetic identity package with AI passport &amp; liveness bypass.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728655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SYNTHETIC IDENTITY MECHANICS &amp; DATA HARVESTING NEXUS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Frankenstein Identity Construction: </a:t>
            </a:r>
            <a:r>
              <a:rPr sz="1100">
                <a:solidFill>
                  <a:srgbClr val="475569"/>
                </a:solidFill>
              </a:rPr>
              <a:t>Fraudsters combine stolen SSNs from data breaches with diffusion-generated facial portraits and fabricated utility bills to pass credit bureau checks.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Data Harvesting Prerequisite: </a:t>
            </a:r>
            <a:r>
              <a:rPr sz="1100">
                <a:solidFill>
                  <a:srgbClr val="475569"/>
                </a:solidFill>
              </a:rPr>
              <a:t>High-fidelity synthetic identities depend on stolen OSINT data. In 2025, cybercriminals bribed support agents at Coinbase to steal 70,000 KYC records for downstream impersonation.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Credit Line Bust-Outs: </a:t>
            </a:r>
            <a:r>
              <a:rPr sz="1100">
                <a:solidFill>
                  <a:srgbClr val="475569"/>
                </a:solidFill>
              </a:rPr>
              <a:t>Criminal syndicates nurture synthetic credit scores over 6–18 months through automated micro-transactions before simultaneously maxing out credit lines across multiple banks.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Mule Account Networks: </a:t>
            </a:r>
            <a:r>
              <a:rPr sz="1100">
                <a:solidFill>
                  <a:srgbClr val="475569"/>
                </a:solidFill>
              </a:rPr>
              <a:t>Automated account opening allows fraud rings to establish thousands of synthetic mule accounts for laundering illicit funds and receiving push payments.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8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ENTERPRISE ACCESS &amp; CANDIDATE FRAUD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Synthetic Personas Infiltrate Western Corporate IT Networks via Deepfake Hiring Interviews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STATE-SPONSORED CANDIDATE FRAUD (DPRK IT SCHEME)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136+ US Companies Compromised: </a:t>
            </a:r>
            <a:r>
              <a:rPr sz="1050">
                <a:solidFill>
                  <a:srgbClr val="475569"/>
                </a:solidFill>
              </a:rPr>
              <a:t>FBI alerts documented state-sponsored operatives using stolen identities and real-time deepfakes to pass remote HR interviews.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$300k+ Annual Salaries Funneled: </a:t>
            </a:r>
            <a:r>
              <a:rPr sz="1050">
                <a:solidFill>
                  <a:srgbClr val="475569"/>
                </a:solidFill>
              </a:rPr>
              <a:t>Operatives secured remote IT positions across Western firms, earning six-figure salaries funneled back to regime weapons programs.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1,800+ Applicants Blocked by Amazon: </a:t>
            </a:r>
            <a:r>
              <a:rPr sz="1050">
                <a:solidFill>
                  <a:srgbClr val="475569"/>
                </a:solidFill>
              </a:rPr>
              <a:t>Amazon's CSO disclosed blocking over 1,800 fraudulent North Korean applicants attempting deepfake interviews since 2024.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Active Insider Threat Evolution: </a:t>
            </a:r>
            <a:r>
              <a:rPr sz="1050">
                <a:solidFill>
                  <a:srgbClr val="475569"/>
                </a:solidFill>
              </a:rPr>
              <a:t>Once hired, operatives exfiltrated proprietary source code, deployed ransomware, and established persistent backdoors.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RECRUITMENT FRAUD METRICS &amp; HR HARDENING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+1,300% Growth in Hiring Fraud: </a:t>
            </a:r>
            <a:r>
              <a:rPr sz="1050">
                <a:solidFill>
                  <a:srgbClr val="475569"/>
                </a:solidFill>
              </a:rPr>
              <a:t>Deepfake fraud attempts in job recruitment surged 1,300% from 2023 to 2024.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1 in 4 Profiles Artificial by 2028: </a:t>
            </a:r>
            <a:r>
              <a:rPr sz="1050">
                <a:solidFill>
                  <a:srgbClr val="475569"/>
                </a:solidFill>
              </a:rPr>
              <a:t>Gartner predicts 25% of online candidate profiles will be synthetic or AI-fabricated by 2028.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23% of Firms Encounter Fraud: </a:t>
            </a:r>
            <a:r>
              <a:rPr sz="1050">
                <a:solidFill>
                  <a:srgbClr val="475569"/>
                </a:solidFill>
              </a:rPr>
              <a:t>Background screening reports reveal nearly a quarter of enterprises have encountered fraudulent candidate identities during onboarding.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Mandatory HR Verification Controls: </a:t>
            </a:r>
            <a:r>
              <a:rPr sz="1050">
                <a:solidFill>
                  <a:srgbClr val="475569"/>
                </a:solidFill>
              </a:rPr>
              <a:t>Organizations are implementing mandatory in-person verifications for privileged IT roles, IP geofencing, and hardware key issuance.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9 OF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AUTOMATED RELATIONSHIP SCAMS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Emotionally Intelligent LLM Bots Scale Investment Scams to Achieve 4.5x Higher Profitability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422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QUADRANT I: RELATIONSHIP BOT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24/7 Emotional Manipulation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LLM personas engage victims on dating apps, building trust and adapting tone without human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QUADRANT II: SYNTHETIC TRADING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Manipulated Investment Portfolios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Victims are directed to fake trading apps displaying fabricated market returns to encourage larger deposits.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422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QUADRANT III: 4.5X PROFITABILITY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Industrialized Execution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AI-enabled crypto scams achieve 4.5x higher profitability than traditional manual fraud schemes.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422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QUADRANT IV: SYNTHETIC SOCIAL UNIVERSE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The 'Truman Show' Operation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Check Point revealed campaigns using 90 AI expert bots in group chats to surround victims with fake social consensus.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10 OF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ANTHROPIC CASE STUDY: GTG-20006 (MIDNIGHT BLIZZARD)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State-Nexus Threat Actors Deploy AI Workflows to Autonomously Modify Malware and Evade EDR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6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CAMPAIGN PROFILE: RUSSIAN ESPIONAGE &amp; GOV/DEFENSE TARGETING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Anthropic Threat Intelligence attributed GTG-20006 to a Russian state-nexus operator ('JackPoterz' / Midnight Blizzard). The group targeted 20+ organizations including European/Ukrainian government ministries, defense drone suppliers, and diplomatic missions across a 130-day campaign.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2120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5212080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AUTONOMOUS SELF-HEALING EVASION LOOP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Automated Evasion Monitoring: </a:t>
            </a:r>
            <a:r>
              <a:rPr sz="1000">
                <a:solidFill>
                  <a:srgbClr val="475569"/>
                </a:solidFill>
              </a:rPr>
              <a:t>AI agents monitored how deployed implants performed against commercial security products (AV/EDR).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Iterative Code Rebuilding: </a:t>
            </a:r>
            <a:r>
              <a:rPr sz="1000">
                <a:solidFill>
                  <a:srgbClr val="475569"/>
                </a:solidFill>
              </a:rPr>
              <a:t>When security products detected an implant, AI agents automatically modified and recompiled the malware source code until it passed undetected.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Freeze Security Updates: </a:t>
            </a:r>
            <a:r>
              <a:rPr sz="1000">
                <a:solidFill>
                  <a:srgbClr val="475569"/>
                </a:solidFill>
              </a:rPr>
              <a:t>Delivered companion payloads that froze victim machine security updates, preventing new vendor signatures from running.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242255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65760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94760"/>
            <a:ext cx="48764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DEPLOYED CUSTOM MALWARE &amp; M365 TOKEN THEFT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Windows Implants: </a:t>
            </a:r>
            <a:r>
              <a:rPr sz="1000">
                <a:solidFill>
                  <a:srgbClr val="475569"/>
                </a:solidFill>
              </a:rPr>
              <a:t>PowerChrome, WUEngine, Shadow C2, MiniPlasma, CloudSyncSvc.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Mobile Surveillance: </a:t>
            </a:r>
            <a:r>
              <a:rPr sz="1000">
                <a:solidFill>
                  <a:srgbClr val="475569"/>
                </a:solidFill>
              </a:rPr>
              <a:t>GiftDrop (rebranded GiftsExpress Android surveillance RAT).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iOS Exploit Chain: </a:t>
            </a:r>
            <a:r>
              <a:rPr sz="1000">
                <a:solidFill>
                  <a:srgbClr val="475569"/>
                </a:solidFill>
              </a:rPr>
              <a:t>DarkSword iOS exploit chain targeting mobile devices.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M365 Token Theft: </a:t>
            </a:r>
            <a:r>
              <a:rPr sz="1000">
                <a:solidFill>
                  <a:srgbClr val="475569"/>
                </a:solidFill>
              </a:rPr>
              <a:t>Phishing platform compromised M365 tokens across 8 diplomatic institutions, exfiltrating national prosecutor mail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11 OF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ANTHROPIC CASE STUDY: GTG-10007 (EXPLOIT FOUNDRIES)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Autonomous AI Foundries Decompile Firmware and Generate Zero-Day Exploits Around the Clock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5041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95041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767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1. SURVEY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Georgia"/>
              </a:defRPr>
            </a:pPr>
            <a:r>
              <a:t>Load Firmware</a:t>
            </a:r>
          </a:p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Vendor firmware images decrypted and loaded into disassemblers.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5041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645920"/>
            <a:ext cx="195041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783080"/>
            <a:ext cx="1767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2. DECOMPILE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Georgia"/>
              </a:defRPr>
            </a:pPr>
            <a:r>
              <a:t>Function Mining</a:t>
            </a:r>
          </a:p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AI agents execute thousands of decompile calls to map input chains.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195041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1645920"/>
            <a:ext cx="195041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783080"/>
            <a:ext cx="1767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3. TRACE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Georgia"/>
              </a:defRPr>
            </a:pPr>
            <a:r>
              <a:t>Cross-Reference</a:t>
            </a:r>
          </a:p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Agents trace inputs to find reachable memory-safety and logic flaws.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645920"/>
            <a:ext cx="195041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199" y="1645920"/>
            <a:ext cx="195041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39" y="1783080"/>
            <a:ext cx="1767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4. HYPOTHESIZE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Georgia"/>
              </a:defRPr>
            </a:pPr>
            <a:r>
              <a:t>Vulnerability Rules</a:t>
            </a:r>
          </a:p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AI matches candidate flaws against curated project vulnerability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645920"/>
            <a:ext cx="195041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1645920"/>
            <a:ext cx="195041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783080"/>
            <a:ext cx="1767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5. EXPLOIT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Georgia"/>
              </a:defRPr>
            </a:pPr>
            <a:r>
              <a:t>PoC Validation</a:t>
            </a:r>
          </a:p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AI writes exploit code and debugs against target lab appliances.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OPERATIONAL IMPACT &amp; SWARM ARCHITECTURE (GTG-10007)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12+ Zero-Days per Month: </a:t>
            </a:r>
            <a:r>
              <a:rPr sz="1100">
                <a:solidFill>
                  <a:srgbClr val="475569"/>
                </a:solidFill>
              </a:rPr>
              <a:t>The autonomous firmware audit workflow yielded over a dozen potential zero-day vulnerability findings in a single month against enterprise network appliances.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Agent Swarm Delegation: </a:t>
            </a:r>
            <a:r>
              <a:rPr sz="1100">
                <a:solidFill>
                  <a:srgbClr val="475569"/>
                </a:solidFill>
              </a:rPr>
              <a:t>Lead AI agents decomposed reconnaissance tasks and dispatched work to parallel sub-agents operating with persistent campaign memory across 50 target entities.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Unattended Intelligence Fleets: </a:t>
            </a:r>
            <a:r>
              <a:rPr sz="1100">
                <a:solidFill>
                  <a:srgbClr val="475569"/>
                </a:solidFill>
              </a:rPr>
              <a:t>A fleet of 13 standing collection AI agents ran on scheduled jobs to scrape military doctrine, contract postings, and social media personas with zero human intervention.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12 OF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ANTHROPIC CASE STUDY: GTG-50014 (SHINYHUNTERS)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Distributed AI Pipelines Decompile 1.8M Mobile Apps to Exfiltrate Cloud Credentials in 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MASS APK DECOMPILATION &amp; SECRET MINING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1.8M Android APKs Downloaded: </a:t>
            </a:r>
            <a:r>
              <a:rPr sz="1050">
                <a:solidFill>
                  <a:srgbClr val="475569"/>
                </a:solidFill>
              </a:rPr>
              <a:t>A single operator ran a distributed credential harvesting pipeline across 10 AWS EC2 workers, mass-downloading 1.8M Android apps.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Automated Secret Extraction: </a:t>
            </a:r>
            <a:r>
              <a:rPr sz="1050">
                <a:solidFill>
                  <a:srgbClr val="475569"/>
                </a:solidFill>
              </a:rPr>
              <a:t>AI agents decompiled the APKs, scanned for hardcoded API keys, OAuth secrets, and AWS credentials, and posted verified finds to Telegram in real time.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Batch Cloud Key Validation: </a:t>
            </a:r>
            <a:r>
              <a:rPr sz="1050">
                <a:solidFill>
                  <a:srgbClr val="475569"/>
                </a:solidFill>
              </a:rPr>
              <a:t>Harvested keys were automatically fired against production cloud APIs to qualify scope and administrative permissions before operator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SAAS SUPPLY-CHAIN FAN-OUT &amp; TEMPO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200 Downstream Organizations Compromised: </a:t>
            </a:r>
            <a:r>
              <a:rPr sz="1050">
                <a:solidFill>
                  <a:srgbClr val="475569"/>
                </a:solidFill>
              </a:rPr>
              <a:t>After breaching a single SaaS provider, AI agents extracted data belonging to ~200 downstream customer entities.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2,100 Azure AD Tokens Dumped: </a:t>
            </a:r>
            <a:r>
              <a:rPr sz="1050">
                <a:solidFill>
                  <a:srgbClr val="475569"/>
                </a:solidFill>
              </a:rPr>
              <a:t>Session store dumps yielded over 2,100 Azure AD token sets spanning 40+ corporate tenants within 34 hours.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2 to 3 Hour Intrusion Tempo: </a:t>
            </a:r>
            <a:r>
              <a:rPr sz="1050">
                <a:solidFill>
                  <a:srgbClr val="475569"/>
                </a:solidFill>
              </a:rPr>
              <a:t>Compromises escalated from a single stolen developer token to full administrative control of cloud environments in 2–3 hours.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Dual-Hat Bounty Monetization: </a:t>
            </a:r>
            <a:r>
              <a:rPr sz="1050">
                <a:solidFill>
                  <a:srgbClr val="475569"/>
                </a:solidFill>
              </a:rPr>
              <a:t>Threat actors monetized loot via Telegram storefronts, extortion, and filing bug bounties on the same flaws being exploited.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13 OF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AI INFRASTRUCTURE &amp; API SECURITY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Threat Actors Target AI API Keys as Primary Loot to Fuel Fraudulent Reseller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990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247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EVAL SANDBOX INJECTION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Georgia"/>
              </a:defRPr>
            </a:pPr>
            <a:r>
              <a:t>GTG-50020 Case Study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Injected malicious instructions into AI vendor eval sandboxes, stealing production API keys belonging to 30+ AI firms.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990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2247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FAKE RESELLER NETWORKS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Georgia"/>
              </a:defRPr>
            </a:pPr>
            <a:r>
              <a:t>GTG-50021 Fraud Resellers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Offered cheap Claude access, silently proxied traffic to weaker models, and harvested users' Anthropic account credentials.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990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22247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DEVELOPER TOOL SPOOFING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Georgia"/>
              </a:defRPr>
            </a:pPr>
            <a:r>
              <a:t>Claude Code Harvesters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Stood up fake wrapper sites delivering credential-harvesting clients disguised as popular AI harnesses like Claude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9905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783080"/>
            <a:ext cx="22247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PROMPT INJECTION OF WRAPPERS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Georgia"/>
              </a:defRPr>
            </a:pPr>
            <a:r>
              <a:t>LiteLLM Container Theft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Compromised AI wrapper deployments via prompt injection to exfiltrate API keys from cloud-hosted containers.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362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ENTERPRISE LESSONS FOR AI SUPPLY CHAIN DEFENSE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API Keys as High-Value Credentials: </a:t>
            </a:r>
            <a:r>
              <a:rPr sz="1100">
                <a:solidFill>
                  <a:srgbClr val="475569"/>
                </a:solidFill>
              </a:rPr>
              <a:t>Production LLM API keys now command premium prices on dark web forums and proxy reseller networks. Keys must be stored in HSMs with strict rate-limiting.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Container &amp; Sandbox Isolation: </a:t>
            </a:r>
            <a:r>
              <a:rPr sz="1100">
                <a:solidFill>
                  <a:srgbClr val="475569"/>
                </a:solidFill>
              </a:rPr>
              <a:t>Evaluation sandboxes and AI wrappers must enforce strict egress filtering to prevent prompt injection from exfiltrating environment variables.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Continuous Code Secret Scanning: </a:t>
            </a:r>
            <a:r>
              <a:rPr sz="1100">
                <a:solidFill>
                  <a:srgbClr val="475569"/>
                </a:solidFill>
              </a:rPr>
              <a:t>Automated scanning must be deployed across developer workstations and CI/CD pipelines to prevent accidental exposure of LLM credentials.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14 OF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AUTOMATED INFORMATION WARFARE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Coordinated Inauthentic Networks Deploy AI Personas and Purpose-Built Doxxing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PURPOSE-BUILT DOXXING PLATFORMS ('fafsearch')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Anthropic Case Study GTG-50029: </a:t>
            </a:r>
            <a:r>
              <a:rPr sz="1050">
                <a:solidFill>
                  <a:srgbClr val="475569"/>
                </a:solidFill>
              </a:rPr>
              <a:t>A hacktivist campaign integrated AI coding to build 'fafsearch', a containerized doxxing search engine.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Multi-Million Record Ingestion: </a:t>
            </a:r>
            <a:r>
              <a:rPr sz="1050">
                <a:solidFill>
                  <a:srgbClr val="475569"/>
                </a:solidFill>
              </a:rPr>
              <a:t>Loaded tens of millions of breached data rows, fusing national health IDs and justice breach records with live intrusion loot.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Automated Identity Lookup: </a:t>
            </a:r>
            <a:r>
              <a:rPr sz="1050">
                <a:solidFill>
                  <a:srgbClr val="475569"/>
                </a:solidFill>
              </a:rPr>
              <a:t>Published as anonymous dark-web services where political targets could be looked up by national identity number.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Rogue Admin Exploit: </a:t>
            </a:r>
            <a:r>
              <a:rPr sz="1050">
                <a:solidFill>
                  <a:srgbClr val="475569"/>
                </a:solidFill>
              </a:rPr>
              <a:t>Used AI to debug an unpatched WordPress race-condition exploit, gaining root admin access across political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SYNTHETIC NEWS NETWORKS &amp; CONTENT LAUNDERING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70+ Interconnected News Portals: </a:t>
            </a:r>
            <a:r>
              <a:rPr sz="1050">
                <a:solidFill>
                  <a:srgbClr val="475569"/>
                </a:solidFill>
              </a:rPr>
              <a:t>A single operator registered 70 independent-looking news domains in a 10-week window behind a single AI deployment.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Automated JSON Content Pipeline: </a:t>
            </a:r>
            <a:r>
              <a:rPr sz="1050">
                <a:solidFill>
                  <a:srgbClr val="475569"/>
                </a:solidFill>
              </a:rPr>
              <a:t>Configured AI prompts requiring strict JSON outputs with HTML formatting to publish articles at scale for SEO authority ranking.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Ideological Content Laundering: </a:t>
            </a:r>
            <a:r>
              <a:rPr sz="1050">
                <a:solidFill>
                  <a:srgbClr val="475569"/>
                </a:solidFill>
              </a:rPr>
              <a:t>Rewrote single source stories in opposite political directions for different regional audiences within 3 minutes of event occurrence.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Live Account Impersonation: </a:t>
            </a:r>
            <a:r>
              <a:rPr sz="1050">
                <a:solidFill>
                  <a:srgbClr val="475569"/>
                </a:solidFill>
              </a:rPr>
              <a:t>Cloned real activists' voices and 8,400 Telegram posts to run automated political conversations with contacts in Iran (GTG-84006).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15 OF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STATE SECURITY &amp; SURVEILLANCE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State Actors Integrate AI into Centralized Case Management and Population Surveillance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IRANIAN 'ARMAN' CASE MANAGEMENT SYSTEM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State Surveillance Integration: </a:t>
            </a:r>
            <a:r>
              <a:rPr sz="1050">
                <a:solidFill>
                  <a:srgbClr val="475569"/>
                </a:solidFill>
              </a:rPr>
              <a:t>Two independent Iranian paramilitary units leveraged AI to build extensions for 'Arman', a shared case-management system.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Malicious Browser Extension: </a:t>
            </a:r>
            <a:r>
              <a:rPr sz="1050">
                <a:solidFill>
                  <a:srgbClr val="475569"/>
                </a:solidFill>
              </a:rPr>
              <a:t>Qom-based unit shipped 'al-Najm al-thāqib', a Firefox extension used to mass-harvest user identities across social platforms.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National Biometric Registry Join: </a:t>
            </a:r>
            <a:r>
              <a:rPr sz="1050">
                <a:solidFill>
                  <a:srgbClr val="475569"/>
                </a:solidFill>
              </a:rPr>
              <a:t>System mapped national IDs, social accounts, and voiceprints directly into central state enforcement databases.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Warrantless AI Dossier Generation: </a:t>
            </a:r>
            <a:r>
              <a:rPr sz="1050">
                <a:solidFill>
                  <a:srgbClr val="475569"/>
                </a:solidFill>
              </a:rPr>
              <a:t>Configured pipelines to generate intelligence narratives and vulnerability scores on any phone number without warrants.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PRC PUBLIC OPINION MONITORING (v2.6)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Bureaucratic AI Pipelines: </a:t>
            </a:r>
            <a:r>
              <a:rPr sz="1050">
                <a:solidFill>
                  <a:srgbClr val="475569"/>
                </a:solidFill>
              </a:rPr>
              <a:t>State contractors built automated document pipelines ingesting 15 to 30+ foreign news articles daily under version-controlled frameworks.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Political Sensitivity Scoring: </a:t>
            </a:r>
            <a:r>
              <a:rPr sz="1050">
                <a:solidFill>
                  <a:srgbClr val="475569"/>
                </a:solidFill>
              </a:rPr>
              <a:t>AI scored content according to sensitivity and reframed critical foreign reporting using standardized state terminology.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Humint Recruitment Coaching: </a:t>
            </a:r>
            <a:r>
              <a:rPr sz="1050">
                <a:solidFill>
                  <a:srgbClr val="475569"/>
                </a:solidFill>
              </a:rPr>
              <a:t>AI coached real-time recruitment of diaspora targets in Syrian Arabic dialect, role-playing as an expert reviewer to quality-check deception.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Three Warfares Integration: </a:t>
            </a:r>
            <a:r>
              <a:rPr sz="1050">
                <a:solidFill>
                  <a:srgbClr val="475569"/>
                </a:solidFill>
              </a:rPr>
              <a:t>Generated recommendations for state enforcement incorporating legal, psychological, and public opinion warfare doctrines.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16 OF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REGULATORY &amp; FINANCIAL LIABILITY SHIFTS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UK PSR Mandates 50/50 Liability Split for APP Scams as Global Regulations Enforce Accountability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UK PSR MANDATORY REIMBURSEMENT SCHEME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50/50 Mandatory Liability Split: </a:t>
            </a:r>
            <a:r>
              <a:rPr sz="1050">
                <a:solidFill>
                  <a:srgbClr val="475569"/>
                </a:solidFill>
              </a:rPr>
              <a:t>Effective October 2024, reimbursement costs for Authorised Push Payment (APP) scams on Faster Payments are split 50% sending PSP / 50% receiving PSP.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£85,000 Claim Cap: </a:t>
            </a:r>
            <a:r>
              <a:rPr sz="1050">
                <a:solidFill>
                  <a:srgbClr val="475569"/>
                </a:solidFill>
              </a:rPr>
              <a:t>Reimbursement capped at £85,000 per claim, forcing receiving banks to pay for harboring synthetic mule accounts.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5-Day SLA Refund: </a:t>
            </a:r>
            <a:r>
              <a:rPr sz="1050">
                <a:solidFill>
                  <a:srgbClr val="475569"/>
                </a:solidFill>
              </a:rPr>
              <a:t>Mandatory customer refund required within 5 business days, drastically altering the ROI of fraud defense.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Gross Negligence Standard: </a:t>
            </a:r>
            <a:r>
              <a:rPr sz="1050">
                <a:solidFill>
                  <a:srgbClr val="475569"/>
                </a:solidFill>
              </a:rPr>
              <a:t>Claims can only be denied if the sending bank proves consumer gross negligence or first-party fraud participation.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6642"/>
                </a:solidFill>
                <a:latin typeface="Arial"/>
              </a:defRPr>
            </a:pPr>
            <a:r>
              <a:t>EU AI ACT (ART. 50) &amp; GLOBAL AML MANDATES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EU AI Act Article 50 (August 2026): </a:t>
            </a:r>
            <a:r>
              <a:rPr sz="1050">
                <a:solidFill>
                  <a:srgbClr val="475569"/>
                </a:solidFill>
              </a:rPr>
              <a:t>Establishes strict legal transparency and watermarking obligations for generative AI outputs and synthetic media.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FinCEN High-Priority Alerts: </a:t>
            </a:r>
            <a:r>
              <a:rPr sz="1050">
                <a:solidFill>
                  <a:srgbClr val="475569"/>
                </a:solidFill>
              </a:rPr>
              <a:t>US FinCEN formally elevated deepfake identity fraud to a priority Anti-Money Laundering (AML) vector requiring targeted Suspicious Activity Reports (SARs).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Insurability &amp; Voluntary Parting Exclusions: </a:t>
            </a:r>
            <a:r>
              <a:rPr sz="1050">
                <a:solidFill>
                  <a:srgbClr val="475569"/>
                </a:solidFill>
              </a:rPr>
              <a:t>Cyber insurers are adding social engineering exclusions for unverified wire transfers, leaving banks fully exposed to APP losses.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Capital Expenditure Shift: </a:t>
            </a:r>
            <a:r>
              <a:rPr sz="1050">
                <a:solidFill>
                  <a:srgbClr val="475569"/>
                </a:solidFill>
              </a:rPr>
              <a:t>Banks are reallocating security budgets from post-breach cleanup to pre-onboarding Injection Attack Detection (IAD).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17 OF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STRATEGIC DEFENSE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Transitioning from Obsolete 'Glitch Spotting' to Procedural Controls and Hardware Attestation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990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247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01. PROCEDURAL FRICTION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Out-of-Band Callbacks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Mandatory out-of-band verification, dual-approval sign-offs, and pre-agreed passcodes for high-value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990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28800"/>
            <a:ext cx="22247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02. HARDWARE ATTESTATION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CEN 18099 Compliance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Inspecting cryptographic hardware tokens and TPM device attestation rather than analyzing video surface pixels.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990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22247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03. CYBER-FRAUD FUSION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Unified Data Lakes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Merging CISO network telemetry (VPNs, session tokens) with AML transaction monitoring and behavioral biometrics.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990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645920"/>
            <a:ext cx="24990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828800"/>
            <a:ext cx="22247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04. DEFENSIVE AGENTIC AI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Machine-Speed Triage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Deploying autonomous AI analyst workforces (Nasdaq Verafin) to triage alerts and orchestrate responses in real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18 OF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ENTERPRISE DEFENSE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 3-Phase Tactical Roadmap to Harden Enterprise Perimeters Against AI-Enabled Exploitation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54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134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39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PHASE 1: IMMEDIATE FRICTION (DAYS 1–90)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Procedural &amp; Session Hardening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75569"/>
                </a:solidFill>
              </a:rPr>
              <a:t>• Enforce mandatory out-of-band telephone/passcode verification for wire transfers &gt;$50k.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75569"/>
                </a:solidFill>
              </a:rPr>
              <a:t>• Implement FIDO2 / WebAuthn hardware security keys to neutralize AiTM reverse proxies.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75569"/>
                </a:solidFill>
              </a:rPr>
              <a:t>• Audit Open Banking API session timeout limits and restrict lateral token movement.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134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4134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39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PHASE 2: ATTESTATION &amp; KYC (DAYS 91–180)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Hardware &amp; Onboarding Integrity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75569"/>
                </a:solidFill>
              </a:rPr>
              <a:t>• Upgrade remote KYC onboarding to CEN 18099 Injection Attack Detection (IAD) standards.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75569"/>
                </a:solidFill>
              </a:rPr>
              <a:t>• Implement hardware cryptographic attestation for video/document capture devices.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75569"/>
                </a:solidFill>
              </a:rPr>
              <a:t>• Deploy bi-directional HR candidate verification for remote IT and executive hiring.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4134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828800"/>
            <a:ext cx="3139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42"/>
                </a:solidFill>
                <a:latin typeface="Arial"/>
              </a:defRPr>
            </a:pPr>
            <a:r>
              <a:t>PHASE 3: CONVERGENCE &amp; AGENTS (DAYS 181–365)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Cyber-Fraud Fusion &amp; AI Triage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75569"/>
                </a:solidFill>
              </a:rPr>
              <a:t>• Integrate CISO network telemetry, AML databases, and transaction logic into unified data lakes.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75569"/>
                </a:solidFill>
              </a:rPr>
              <a:t>• Deploy defensive Agentic AI triage engines to analyze cross-channel fraud alerts at machine speed.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475569"/>
                </a:solidFill>
              </a:rPr>
              <a:t>• Conduct red-teaming simulations evaluating multi-agent attack vectors and credential harvesters.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19 OF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EXECUTIVE BRIEFING SUMMARY</a:t>
            </a:r>
          </a:p>
          <a:p>
            <a:pPr>
              <a:defRPr sz="2000" b="1">
                <a:solidFill>
                  <a:srgbClr val="006642"/>
                </a:solidFill>
                <a:latin typeface="Georgia"/>
              </a:defRPr>
            </a:pPr>
            <a:r>
              <a:t>Surviving Weaponized Deception Requires Abandoning Implicit Visual &amp; Auditory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2422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KEY TAKEAWAY 01: PERCEPTION IS BROKEN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Human detection of deepfakes is 55% (a coin flip). Organizations must stop relying on user 'glitch spotting' and enforce mandatory procedural friction.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2422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28600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KEY TAKEAWAY 02: MACHINE-SPEED ASYMMETRY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Attacks progress from initial credential access to multi-tenant cloud exfiltration in 2-3 hours. Defensive response must deploy AI agentic triage.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422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KEY TAKEAWAY 03: LIABILITY REDISTRIBUTION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UK PSR 50/50 liability mandates hold receiving banks financially responsible (£85k cap, 5-day SLA), driving mandatory Injection Attack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242255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206240"/>
            <a:ext cx="52422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34340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42"/>
                </a:solidFill>
                <a:latin typeface="Arial"/>
              </a:defRPr>
            </a:pPr>
            <a:r>
              <a:t>KEY TAKEAWAY 04: ZERO-TRUST IDENTITY</a:t>
            </a:r>
          </a:p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Visual/auditory signals can no longer confirm identity. Security must transition to continuous cryptographic hardware attestation and session integrity.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EXECUTIVE THREAT BRIEFING  |  AI-ENABLED FRAUD &amp; CYBER OPERATIONS  |  SLIDE 20 OF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