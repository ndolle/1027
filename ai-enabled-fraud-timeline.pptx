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642"/>
                </a:solidFill>
                <a:latin typeface="Arial"/>
              </a:defRPr>
            </a:pPr>
            <a:r>
              <a:t>TIMELINE ERA I: THE EMERGENCE &amp; COMMERCIALIZATION OF AI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2019–2024: From Proof-of-Concept Voice Clones to $25.6M Executive Deepfakes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1036289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3372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2019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FIRST AUDIO DEEPFAKE HEIST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UK Energy CEO Voice Clone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Executive voice cloned using early synthesis tools.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Tricked CEO into transferring $243,000 to fraud account.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Marked the first major commercial audio deepfake theft.</a:t>
            </a:r>
          </a:p>
        </p:txBody>
      </p:sp>
      <p:sp>
        <p:nvSpPr>
          <p:cNvPr id="8" name="Oval 7"/>
          <p:cNvSpPr/>
          <p:nvPr/>
        </p:nvSpPr>
        <p:spPr>
          <a:xfrm>
            <a:off x="4475988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74136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2022–2023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DARK WEB ACCESSIBILITY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KYC Spikes &amp; Dark Tooling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Diffusion models lower synthetic identity costs.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Cryptocurrency KYC bypass attempts spike by 654%.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Deepfakes expand to 1.1% of all global fraud attempts.</a:t>
            </a:r>
          </a:p>
        </p:txBody>
      </p:sp>
      <p:sp>
        <p:nvSpPr>
          <p:cNvPr id="10" name="Oval 9"/>
          <p:cNvSpPr/>
          <p:nvPr/>
        </p:nvSpPr>
        <p:spPr>
          <a:xfrm>
            <a:off x="7118604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6752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JAN 2024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THE $25.6M BENCHMARK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Arup Multi-Person Video Fraud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Finance staff joined video call with deepfake CFO &amp; peers.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Visual and auditory trust signals completely spoofed.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Authorized 15 wire transfers totaling $25.6 million.</a:t>
            </a:r>
          </a:p>
        </p:txBody>
      </p:sp>
      <p:sp>
        <p:nvSpPr>
          <p:cNvPr id="12" name="Oval 11"/>
          <p:cNvSpPr/>
          <p:nvPr/>
        </p:nvSpPr>
        <p:spPr>
          <a:xfrm>
            <a:off x="9761220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9368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MID-LATE 2024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DARK LLMS &amp; BEC WAVES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WormGPT &amp; Regulatory Shifts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WormGPT/FraudGPT push phishing click rates to 54%.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Orion ($60M) &amp; Toyota Boshoku ($37M) hit by BEC waves.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UK PSR enacts mandatory 50/50 bank liability split.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642"/>
                </a:solidFill>
                <a:latin typeface="Arial"/>
              </a:defRPr>
            </a:pPr>
            <a:r>
              <a:t>TIMELINE ERA II: INDUSTRIALIZATION &amp; AUTOMATED IDENTITY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2025: Scale Collapse, Infiltrated Insiders &amp; $6.3 Billion Direct FBI Loss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1036289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3372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Q1 2025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VISHING SURGE +1,633%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Voice Phishing Escalation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Deepfake vishing surges 1,633% quarter-over-quarter.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Q1 global deepfake losses exceed $200 million.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Multi-channel vishing collapses traditional phone trust.</a:t>
            </a:r>
          </a:p>
        </p:txBody>
      </p:sp>
      <p:sp>
        <p:nvSpPr>
          <p:cNvPr id="8" name="Oval 7"/>
          <p:cNvSpPr/>
          <p:nvPr/>
        </p:nvSpPr>
        <p:spPr>
          <a:xfrm>
            <a:off x="4475988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74136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MID 2025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INFILTRATED INSIDERS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North Korean IT Candidate Fraud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DPRK actors use real-time deepfakes in HR video interviews.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Infiltrated 136+ Western corporate IT networks.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Amazon alone blocked 1,800+ fake applicant profiles.</a:t>
            </a:r>
          </a:p>
        </p:txBody>
      </p:sp>
      <p:sp>
        <p:nvSpPr>
          <p:cNvPr id="10" name="Oval 9"/>
          <p:cNvSpPr/>
          <p:nvPr/>
        </p:nvSpPr>
        <p:spPr>
          <a:xfrm>
            <a:off x="7118604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6752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LATE 2025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KYC DATA BREACH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Coinbase 70k Record Harvest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Insiders bribed to exfiltrate government IDs for 70k users.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Stolen KYC records feed hyper-personalized AI lures.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Synthetic ID creation costs collapse below $15.</a:t>
            </a:r>
          </a:p>
        </p:txBody>
      </p:sp>
      <p:sp>
        <p:nvSpPr>
          <p:cNvPr id="12" name="Oval 11"/>
          <p:cNvSpPr/>
          <p:nvPr/>
        </p:nvSpPr>
        <p:spPr>
          <a:xfrm>
            <a:off x="9761220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9368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FULL YEAR 2025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RECORD FINANCIAL TOLL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FBI IC3 $6.3B AI Loss Metric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FBI formally isolates AI fraud as standalone category.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Direct AI losses hit $6.3B ($20.8B total online crime).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US financial sector deepfake losses reach $1.1B.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0F7F4"/>
          </a:solidFill>
          <a:ln w="127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642"/>
                </a:solidFill>
                <a:latin typeface="Arial"/>
              </a:defRPr>
            </a:pPr>
            <a:r>
              <a:t>TIMELINE ERA III: AUTONOMOUS KILL-CHAINS &amp; MANDATORY BANK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2026–2027: Autonomous AI Cyber Operations &amp; Global Regulatory Realignment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381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10362895" cy="5080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3372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JAN 2026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SYNTHETIC SOCIAL SCAMS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The 'Truman Show' Operation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Check Point exposes 90 AI expert bots encircling victim.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Constructs synthetic social reality for investment scams.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Bombay Stock Exchange CEO deepfake promotes fraudulent tips.</a:t>
            </a:r>
          </a:p>
        </p:txBody>
      </p:sp>
      <p:sp>
        <p:nvSpPr>
          <p:cNvPr id="8" name="Oval 7"/>
          <p:cNvSpPr/>
          <p:nvPr/>
        </p:nvSpPr>
        <p:spPr>
          <a:xfrm>
            <a:off x="4475988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74136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MID 2026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ANTHROPIC TELEMETRY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Autonomous AI Kill-Chains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GTG-20006: Self-healing malware dynamically bypasses EDR.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GTG-10007: AI foundries yield 12 zero-days/mo in firmware.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GTG-50014: Decompiles 1.8M APKs to steal cloud tokens.</a:t>
            </a:r>
          </a:p>
        </p:txBody>
      </p:sp>
      <p:sp>
        <p:nvSpPr>
          <p:cNvPr id="10" name="Oval 9"/>
          <p:cNvSpPr/>
          <p:nvPr/>
        </p:nvSpPr>
        <p:spPr>
          <a:xfrm>
            <a:off x="7118604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16752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AUG 2026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HARDWARE &amp; REGULATION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EU AI Act &amp; CEN 18099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EU AI Act Article 50 mandates synthetic media watermarks.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CEN 18099 standard addresses camera stream injection.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Mandatory hardware attestation replaces visual liveness.</a:t>
            </a:r>
          </a:p>
        </p:txBody>
      </p:sp>
      <p:sp>
        <p:nvSpPr>
          <p:cNvPr id="12" name="Oval 11"/>
          <p:cNvSpPr/>
          <p:nvPr/>
        </p:nvSpPr>
        <p:spPr>
          <a:xfrm>
            <a:off x="9761220" y="2011680"/>
            <a:ext cx="219456" cy="219456"/>
          </a:xfrm>
          <a:prstGeom prst="ellipse">
            <a:avLst/>
          </a:prstGeom>
          <a:solidFill>
            <a:srgbClr val="00A86B"/>
          </a:solidFill>
          <a:ln w="2540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59368" y="2286000"/>
            <a:ext cx="2423160" cy="4206240"/>
          </a:xfrm>
          <a:prstGeom prst="roundRect">
            <a:avLst/>
          </a:prstGeom>
          <a:solidFill>
            <a:srgbClr val="F0F7F4"/>
          </a:solidFill>
          <a:ln w="19050">
            <a:solidFill>
              <a:srgbClr val="80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600" b="1">
                <a:solidFill>
                  <a:srgbClr val="006642"/>
                </a:solidFill>
                <a:latin typeface="Arial"/>
              </a:defRPr>
            </a:pPr>
            <a:r>
              <a:t>2027 PROJECTION</a:t>
            </a:r>
          </a:p>
          <a:p>
            <a:pPr>
              <a:spcAft>
                <a:spcPts val="600"/>
              </a:spcAft>
              <a:defRPr sz="900" b="1">
                <a:solidFill>
                  <a:srgbClr val="00A86B"/>
                </a:solidFill>
                <a:latin typeface="Arial"/>
              </a:defRPr>
            </a:pPr>
            <a:r>
              <a:t>$40B ECONOMIC FORECAST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Deloitte US AI Fraud Impact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US AI-enabled fraud losses projected to reach $40 billion.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Represents a 32% CAGR growth from 2023.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Drives mandatory CISO-Fraud convergence in banking.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